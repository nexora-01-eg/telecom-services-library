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jpe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image" Target="../media/image-8-14.png"/><Relationship Id="rId15" Type="http://schemas.openxmlformats.org/officeDocument/2006/relationships/slideLayout" Target="../slideLayouts/slideLayout1.xml"/><Relationship Id="rId1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jpe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3914775" y="900113"/>
            <a:ext cx="4514850" cy="1234418"/>
          </a:xfrm>
          <a:prstGeom prst="rect">
            <a:avLst/>
          </a:prstGeom>
          <a:noFill/>
          <a:ln/>
        </p:spPr>
        <p:txBody>
          <a:bodyPr wrap="square" lIns="0" tIns="0" rIns="0" bIns="0" rtlCol="0" anchor="t">
            <a:spAutoFit/>
          </a:bodyPr>
          <a:lstStyle/>
          <a:p>
            <a:pPr algn="l" indent="0" marL="0">
              <a:lnSpc>
                <a:spcPct val="96000"/>
              </a:lnSpc>
              <a:buNone/>
            </a:pPr>
            <a:r>
              <a:rPr lang="en-US" sz="3750" b="1" dirty="0">
                <a:solidFill>
                  <a:srgbClr val="1A202C"/>
                </a:solidFill>
                <a:latin typeface="Cairo ExtraBold" pitchFamily="34" charset="0"/>
                <a:ea typeface="Cairo ExtraBold" pitchFamily="34" charset="-122"/>
                <a:cs typeface="Cairo ExtraBold" pitchFamily="34" charset="-120"/>
              </a:rPr>
              <a:t>من المنيو إلى الطلب في ثوانٍ</a:t>
            </a:r>
            <a:endParaRPr lang="en-US" sz="3750" dirty="0"/>
          </a:p>
        </p:txBody>
      </p:sp>
      <p:sp>
        <p:nvSpPr>
          <p:cNvPr id="4" name="Text 1"/>
          <p:cNvSpPr/>
          <p:nvPr/>
        </p:nvSpPr>
        <p:spPr>
          <a:xfrm>
            <a:off x="4366282" y="2348843"/>
            <a:ext cx="4063343" cy="1097180"/>
          </a:xfrm>
          <a:prstGeom prst="rect">
            <a:avLst/>
          </a:prstGeom>
          <a:noFill/>
          <a:ln/>
        </p:spPr>
        <p:txBody>
          <a:bodyPr wrap="square" lIns="0" tIns="0" rIns="0" bIns="0" rtlCol="0" anchor="t">
            <a:spAutoFit/>
          </a:bodyPr>
          <a:lstStyle/>
          <a:p>
            <a:pPr algn="l" indent="0" marL="0">
              <a:lnSpc>
                <a:spcPct val="128000"/>
              </a:lnSpc>
              <a:buNone/>
            </a:pPr>
            <a:r>
              <a:rPr lang="en-US" sz="1700" dirty="0">
                <a:solidFill>
                  <a:srgbClr val="4A5568"/>
                </a:solidFill>
                <a:latin typeface="Cairo Light" pitchFamily="34" charset="0"/>
                <a:ea typeface="Cairo Light" pitchFamily="34" charset="-122"/>
                <a:cs typeface="Cairo Light" pitchFamily="34" charset="-120"/>
              </a:rPr>
              <a:t>صفحة هبوط عربية سريعة تساعد المطاعم المحلية على تحويل البحث والمراجعات إلى طلبات مباشرة</a:t>
            </a:r>
            <a:endParaRPr lang="en-US" sz="1700" dirty="0"/>
          </a:p>
        </p:txBody>
      </p:sp>
      <p:pic>
        <p:nvPicPr>
          <p:cNvPr id="5" name="Image 1" descr="preencoded.png">    </p:cNvPr>
          <p:cNvPicPr>
            <a:picLocks noChangeAspect="1"/>
          </p:cNvPicPr>
          <p:nvPr/>
        </p:nvPicPr>
        <p:blipFill>
          <a:blip r:embed="rId2"/>
          <a:stretch>
            <a:fillRect/>
          </a:stretch>
        </p:blipFill>
        <p:spPr>
          <a:xfrm>
            <a:off x="8251031" y="4232672"/>
            <a:ext cx="178594" cy="142875"/>
          </a:xfrm>
          <a:prstGeom prst="rect">
            <a:avLst/>
          </a:prstGeom>
        </p:spPr>
      </p:pic>
      <p:sp>
        <p:nvSpPr>
          <p:cNvPr id="6" name="Text 2"/>
          <p:cNvSpPr/>
          <p:nvPr/>
        </p:nvSpPr>
        <p:spPr>
          <a:xfrm>
            <a:off x="7226908" y="4036219"/>
            <a:ext cx="916967" cy="535781"/>
          </a:xfrm>
          <a:prstGeom prst="rect">
            <a:avLst/>
          </a:prstGeom>
          <a:noFill/>
          <a:ln/>
        </p:spPr>
        <p:txBody>
          <a:bodyPr wrap="none" lIns="0" tIns="0" rIns="0" bIns="0" rtlCol="0" anchor="t">
            <a:spAutoFit/>
          </a:bodyPr>
          <a:lstStyle/>
          <a:p>
            <a:pPr algn="l" indent="0" marL="0">
              <a:buNone/>
            </a:pPr>
            <a:r>
              <a:rPr lang="en-US" sz="1050" dirty="0">
                <a:solidFill>
                  <a:srgbClr val="718096"/>
                </a:solidFill>
                <a:latin typeface="Cairo Light" pitchFamily="34" charset="0"/>
                <a:ea typeface="Cairo Light" pitchFamily="34" charset="-122"/>
                <a:cs typeface="Cairo Light" pitchFamily="34" charset="-120"/>
              </a:rPr>
              <a:t>إعداد: Manus AI</a:t>
            </a:r>
            <a:endParaRPr lang="en-US" sz="1050" dirty="0"/>
          </a:p>
        </p:txBody>
      </p:sp>
      <p:sp>
        <p:nvSpPr>
          <p:cNvPr id="7" name="Text 3"/>
          <p:cNvSpPr/>
          <p:nvPr/>
        </p:nvSpPr>
        <p:spPr>
          <a:xfrm>
            <a:off x="7087605" y="4170164"/>
            <a:ext cx="32147" cy="267891"/>
          </a:xfrm>
          <a:prstGeom prst="rect">
            <a:avLst/>
          </a:prstGeom>
          <a:noFill/>
          <a:ln/>
        </p:spPr>
        <p:txBody>
          <a:bodyPr wrap="none" lIns="0" tIns="0" rIns="0" bIns="0" rtlCol="0" anchor="t">
            <a:spAutoFit/>
          </a:bodyPr>
          <a:lstStyle/>
          <a:p>
            <a:pPr algn="l" indent="0" marL="0">
              <a:buNone/>
            </a:pPr>
            <a:r>
              <a:rPr lang="en-US" sz="1050" dirty="0">
                <a:solidFill>
                  <a:srgbClr val="CBD5E0"/>
                </a:solidFill>
                <a:latin typeface="Cairo Light" pitchFamily="34" charset="0"/>
                <a:ea typeface="Cairo Light" pitchFamily="34" charset="-122"/>
                <a:cs typeface="Cairo Light" pitchFamily="34" charset="-120"/>
              </a:rPr>
              <a:t>|</a:t>
            </a:r>
            <a:endParaRPr lang="en-US" sz="1050" dirty="0"/>
          </a:p>
        </p:txBody>
      </p:sp>
      <p:pic>
        <p:nvPicPr>
          <p:cNvPr id="8" name="Image 2" descr="preencoded.png">    </p:cNvPr>
          <p:cNvPicPr>
            <a:picLocks noChangeAspect="1"/>
          </p:cNvPicPr>
          <p:nvPr/>
        </p:nvPicPr>
        <p:blipFill>
          <a:blip r:embed="rId3"/>
          <a:stretch>
            <a:fillRect/>
          </a:stretch>
        </p:blipFill>
        <p:spPr>
          <a:xfrm>
            <a:off x="6873292" y="4232672"/>
            <a:ext cx="107156" cy="142875"/>
          </a:xfrm>
          <a:prstGeom prst="rect">
            <a:avLst/>
          </a:prstGeom>
        </p:spPr>
      </p:pic>
      <p:sp>
        <p:nvSpPr>
          <p:cNvPr id="9" name="Text 4"/>
          <p:cNvSpPr/>
          <p:nvPr/>
        </p:nvSpPr>
        <p:spPr>
          <a:xfrm>
            <a:off x="5249763" y="4036219"/>
            <a:ext cx="1516373" cy="535781"/>
          </a:xfrm>
          <a:prstGeom prst="rect">
            <a:avLst/>
          </a:prstGeom>
          <a:noFill/>
          <a:ln/>
        </p:spPr>
        <p:txBody>
          <a:bodyPr wrap="square" lIns="0" tIns="0" rIns="0" bIns="0" rtlCol="0" anchor="t">
            <a:spAutoFit/>
          </a:bodyPr>
          <a:lstStyle/>
          <a:p>
            <a:pPr algn="l" indent="0" marL="0">
              <a:buNone/>
            </a:pPr>
            <a:r>
              <a:rPr lang="en-US" sz="1050" dirty="0">
                <a:solidFill>
                  <a:srgbClr val="718096"/>
                </a:solidFill>
                <a:latin typeface="Cairo Light" pitchFamily="34" charset="0"/>
                <a:ea typeface="Cairo Light" pitchFamily="34" charset="-122"/>
                <a:cs typeface="Cairo Light" pitchFamily="34" charset="-120"/>
              </a:rPr>
              <a:t>شبين الكوم ومدينة السادات</a:t>
            </a:r>
            <a:endParaRPr lang="en-US" sz="1050" dirty="0"/>
          </a:p>
        </p:txBody>
      </p:sp>
      <p:sp>
        <p:nvSpPr>
          <p:cNvPr id="10" name="Text 5"/>
          <p:cNvSpPr/>
          <p:nvPr/>
        </p:nvSpPr>
        <p:spPr>
          <a:xfrm>
            <a:off x="5110460" y="4170164"/>
            <a:ext cx="32147" cy="267891"/>
          </a:xfrm>
          <a:prstGeom prst="rect">
            <a:avLst/>
          </a:prstGeom>
          <a:noFill/>
          <a:ln/>
        </p:spPr>
        <p:txBody>
          <a:bodyPr wrap="none" lIns="0" tIns="0" rIns="0" bIns="0" rtlCol="0" anchor="t">
            <a:spAutoFit/>
          </a:bodyPr>
          <a:lstStyle/>
          <a:p>
            <a:pPr algn="l" indent="0" marL="0">
              <a:buNone/>
            </a:pPr>
            <a:r>
              <a:rPr lang="en-US" sz="1050" dirty="0">
                <a:solidFill>
                  <a:srgbClr val="CBD5E0"/>
                </a:solidFill>
                <a:latin typeface="Cairo Light" pitchFamily="34" charset="0"/>
                <a:ea typeface="Cairo Light" pitchFamily="34" charset="-122"/>
                <a:cs typeface="Cairo Light" pitchFamily="34" charset="-120"/>
              </a:rPr>
              <a:t>|</a:t>
            </a:r>
            <a:endParaRPr lang="en-US" sz="1050" dirty="0"/>
          </a:p>
        </p:txBody>
      </p:sp>
      <p:pic>
        <p:nvPicPr>
          <p:cNvPr id="11" name="Image 3" descr="preencoded.png">    </p:cNvPr>
          <p:cNvPicPr>
            <a:picLocks noChangeAspect="1"/>
          </p:cNvPicPr>
          <p:nvPr/>
        </p:nvPicPr>
        <p:blipFill>
          <a:blip r:embed="rId4"/>
          <a:stretch>
            <a:fillRect/>
          </a:stretch>
        </p:blipFill>
        <p:spPr>
          <a:xfrm>
            <a:off x="4878288" y="4232672"/>
            <a:ext cx="125016" cy="142875"/>
          </a:xfrm>
          <a:prstGeom prst="rect">
            <a:avLst/>
          </a:prstGeom>
        </p:spPr>
      </p:pic>
      <p:sp>
        <p:nvSpPr>
          <p:cNvPr id="12" name="Text 6"/>
          <p:cNvSpPr/>
          <p:nvPr/>
        </p:nvSpPr>
        <p:spPr>
          <a:xfrm>
            <a:off x="3914831" y="4036219"/>
            <a:ext cx="856301" cy="535781"/>
          </a:xfrm>
          <a:prstGeom prst="rect">
            <a:avLst/>
          </a:prstGeom>
          <a:noFill/>
          <a:ln/>
        </p:spPr>
        <p:txBody>
          <a:bodyPr wrap="none" lIns="0" tIns="0" rIns="0" bIns="0" rtlCol="0" anchor="t">
            <a:spAutoFit/>
          </a:bodyPr>
          <a:lstStyle/>
          <a:p>
            <a:pPr algn="l" indent="0" marL="0">
              <a:buNone/>
            </a:pPr>
            <a:r>
              <a:rPr lang="en-US" sz="1050" dirty="0">
                <a:solidFill>
                  <a:srgbClr val="718096"/>
                </a:solidFill>
                <a:latin typeface="Cairo Light" pitchFamily="34" charset="0"/>
                <a:ea typeface="Cairo Light" pitchFamily="34" charset="-122"/>
                <a:cs typeface="Cairo Light" pitchFamily="34" charset="-120"/>
              </a:rPr>
              <a:t>أغسطس 2026</a:t>
            </a:r>
            <a:endParaRPr lang="en-US" sz="1050" dirty="0"/>
          </a:p>
        </p:txBody>
      </p:sp>
      <p:sp>
        <p:nvSpPr>
          <p:cNvPr id="13" name="Shape 7"/>
          <p:cNvSpPr/>
          <p:nvPr/>
        </p:nvSpPr>
        <p:spPr>
          <a:xfrm>
            <a:off x="0" y="0"/>
            <a:ext cx="3200400" cy="5143500"/>
          </a:xfrm>
          <a:prstGeom prst="rect">
            <a:avLst/>
          </a:prstGeom>
          <a:solidFill>
            <a:srgbClr val="E2E8F0"/>
          </a:solidFill>
          <a:ln/>
        </p:spPr>
      </p:sp>
      <p:sp>
        <p:nvSpPr>
          <p:cNvPr id="14" name="Shape 8"/>
          <p:cNvSpPr/>
          <p:nvPr/>
        </p:nvSpPr>
        <p:spPr>
          <a:xfrm>
            <a:off x="-320018" y="-514350"/>
            <a:ext cx="3840435" cy="6172200"/>
          </a:xfrm>
          <a:prstGeom prst="rect">
            <a:avLst/>
          </a:prstGeom>
          <a:solidFill>
            <a:srgbClr val="D69E2E">
              <a:alpha val="5000"/>
            </a:srgbClr>
          </a:solidFill>
          <a:ln/>
        </p:spPr>
      </p:sp>
      <p:sp>
        <p:nvSpPr>
          <p:cNvPr id="15" name="Shape 9"/>
          <p:cNvSpPr/>
          <p:nvPr/>
        </p:nvSpPr>
        <p:spPr>
          <a:xfrm>
            <a:off x="885825" y="1857375"/>
            <a:ext cx="1428750" cy="1428750"/>
          </a:xfrm>
          <a:prstGeom prst="ellipse">
            <a:avLst/>
          </a:prstGeom>
          <a:solidFill>
            <a:srgbClr val="F7FAFC"/>
          </a:solidFill>
          <a:ln w="27432">
            <a:solidFill>
              <a:srgbClr val="D69E2E"/>
            </a:solidFill>
            <a:prstDash val="solid"/>
          </a:ln>
        </p:spPr>
      </p:sp>
      <p:pic>
        <p:nvPicPr>
          <p:cNvPr id="16" name="Image 4" descr="preencoded.png">    </p:cNvPr>
          <p:cNvPicPr>
            <a:picLocks noChangeAspect="1"/>
          </p:cNvPicPr>
          <p:nvPr/>
        </p:nvPicPr>
        <p:blipFill>
          <a:blip r:embed="rId5"/>
          <a:stretch>
            <a:fillRect/>
          </a:stretch>
        </p:blipFill>
        <p:spPr>
          <a:xfrm>
            <a:off x="1385888" y="2286000"/>
            <a:ext cx="428625" cy="571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400550" y="685800"/>
            <a:ext cx="4457700" cy="891518"/>
          </a:xfrm>
          <a:prstGeom prst="rect">
            <a:avLst/>
          </a:prstGeom>
          <a:noFill/>
          <a:ln/>
        </p:spPr>
        <p:txBody>
          <a:bodyPr wrap="square" lIns="0" tIns="0" rIns="0" bIns="0" rtlCol="0" anchor="t">
            <a:spAutoFit/>
          </a:bodyPr>
          <a:lstStyle/>
          <a:p>
            <a:pPr algn="l" indent="0" marL="0">
              <a:lnSpc>
                <a:spcPct val="104000"/>
              </a:lnSpc>
              <a:buNone/>
            </a:pPr>
            <a:r>
              <a:rPr lang="en-US" sz="2450" b="1" dirty="0">
                <a:solidFill>
                  <a:srgbClr val="1A202C"/>
                </a:solidFill>
                <a:latin typeface="Cairo ExtraBold" pitchFamily="34" charset="0"/>
                <a:ea typeface="Cairo ExtraBold" pitchFamily="34" charset="-122"/>
                <a:cs typeface="Cairo ExtraBold" pitchFamily="34" charset="-120"/>
              </a:rPr>
              <a:t>الفرصة ليست في موقع جميل فقط</a:t>
            </a:r>
            <a:endParaRPr lang="en-US" sz="2450" dirty="0"/>
          </a:p>
        </p:txBody>
      </p:sp>
      <p:pic>
        <p:nvPicPr>
          <p:cNvPr id="4" name="Image 1" descr="preencoded.png">    </p:cNvPr>
          <p:cNvPicPr>
            <a:picLocks noChangeAspect="1"/>
          </p:cNvPicPr>
          <p:nvPr/>
        </p:nvPicPr>
        <p:blipFill>
          <a:blip r:embed="rId2"/>
          <a:stretch>
            <a:fillRect/>
          </a:stretch>
        </p:blipFill>
        <p:spPr>
          <a:xfrm>
            <a:off x="8665369" y="1866640"/>
            <a:ext cx="192881" cy="171450"/>
          </a:xfrm>
          <a:prstGeom prst="rect">
            <a:avLst/>
          </a:prstGeom>
        </p:spPr>
      </p:pic>
      <p:sp>
        <p:nvSpPr>
          <p:cNvPr id="5" name="Text 1"/>
          <p:cNvSpPr/>
          <p:nvPr/>
        </p:nvSpPr>
        <p:spPr>
          <a:xfrm>
            <a:off x="4400550" y="1791630"/>
            <a:ext cx="4121944" cy="464344"/>
          </a:xfrm>
          <a:prstGeom prst="rect">
            <a:avLst/>
          </a:prstGeom>
          <a:noFill/>
          <a:ln/>
        </p:spPr>
        <p:txBody>
          <a:bodyPr wrap="square" lIns="0" tIns="0" rIns="0" bIns="0" rtlCol="0" anchor="t">
            <a:spAutoFit/>
          </a:bodyPr>
          <a:lstStyle/>
          <a:p>
            <a:pPr algn="r" indent="0" marL="0">
              <a:lnSpc>
                <a:spcPct val="100000"/>
              </a:lnSpc>
              <a:buNone/>
            </a:pPr>
            <a:r>
              <a:rPr lang="en-US" sz="1400" dirty="0">
                <a:solidFill>
                  <a:srgbClr val="2D3748"/>
                </a:solidFill>
                <a:latin typeface="Cairo Light" pitchFamily="34" charset="0"/>
                <a:ea typeface="Cairo Light" pitchFamily="34" charset="-122"/>
                <a:cs typeface="Cairo Light" pitchFamily="34" charset="-120"/>
              </a:rPr>
              <a:t>المطاعم المستهدفة لها سمعة ممتازة لكن الكثير </a:t>
            </a:r>
            <a:r>
              <a:rPr lang="en-US" sz="1300" b="1" dirty="0">
                <a:solidFill>
                  <a:srgbClr val="1A202C"/>
                </a:solidFill>
                <a:latin typeface="Cairo ExtraBold" pitchFamily="34" charset="0"/>
                <a:ea typeface="Cairo ExtraBold" pitchFamily="34" charset="-122"/>
                <a:cs typeface="Cairo ExtraBold" pitchFamily="34" charset="-120"/>
              </a:rPr>
              <a:t>لا </a:t>
            </a:r>
            <a:r>
              <a:rPr lang="en-US" sz="1300" b="1" dirty="0">
                <a:solidFill>
                  <a:srgbClr val="1A202C"/>
                </a:solidFill>
                <a:latin typeface="Cairo ExtraBold" pitchFamily="34" charset="0"/>
                <a:ea typeface="Cairo ExtraBold" pitchFamily="34" charset="-122"/>
                <a:cs typeface="Cairo ExtraBold" pitchFamily="34" charset="-120"/>
              </a:rPr>
              <a:t>يملك صفحة طلب مستقلة</a:t>
            </a:r>
            <a:r>
              <a:rPr lang="en-US" sz="1400" dirty="0">
                <a:solidFill>
                  <a:srgbClr val="2D3748"/>
                </a:solidFill>
                <a:latin typeface="Cairo Light" pitchFamily="34" charset="0"/>
                <a:ea typeface="Cairo Light" pitchFamily="34" charset="-122"/>
                <a:cs typeface="Cairo Light" pitchFamily="34" charset="-120"/>
              </a:rPr>
              <a:t>.</a:t>
            </a:r>
            <a:endParaRPr lang="en-US" sz="1400" dirty="0"/>
          </a:p>
        </p:txBody>
      </p:sp>
      <p:pic>
        <p:nvPicPr>
          <p:cNvPr id="6" name="Image 2" descr="preencoded.png">    </p:cNvPr>
          <p:cNvPicPr>
            <a:picLocks noChangeAspect="1"/>
          </p:cNvPicPr>
          <p:nvPr/>
        </p:nvPicPr>
        <p:blipFill>
          <a:blip r:embed="rId3"/>
          <a:stretch>
            <a:fillRect/>
          </a:stretch>
        </p:blipFill>
        <p:spPr>
          <a:xfrm>
            <a:off x="8686800" y="2416708"/>
            <a:ext cx="171450" cy="171450"/>
          </a:xfrm>
          <a:prstGeom prst="rect">
            <a:avLst/>
          </a:prstGeom>
        </p:spPr>
      </p:pic>
      <p:sp>
        <p:nvSpPr>
          <p:cNvPr id="7" name="Text 2"/>
          <p:cNvSpPr/>
          <p:nvPr/>
        </p:nvSpPr>
        <p:spPr>
          <a:xfrm>
            <a:off x="4400550" y="2341699"/>
            <a:ext cx="4143375" cy="464344"/>
          </a:xfrm>
          <a:prstGeom prst="rect">
            <a:avLst/>
          </a:prstGeom>
          <a:noFill/>
          <a:ln/>
        </p:spPr>
        <p:txBody>
          <a:bodyPr wrap="square" lIns="0" tIns="0" rIns="0" bIns="0" rtlCol="0" anchor="t">
            <a:spAutoFit/>
          </a:bodyPr>
          <a:lstStyle/>
          <a:p>
            <a:pPr algn="r" indent="0" marL="0">
              <a:lnSpc>
                <a:spcPct val="100000"/>
              </a:lnSpc>
              <a:buNone/>
            </a:pPr>
            <a:r>
              <a:rPr lang="en-US" sz="1400" dirty="0">
                <a:solidFill>
                  <a:srgbClr val="2D3748"/>
                </a:solidFill>
                <a:latin typeface="Cairo Light" pitchFamily="34" charset="0"/>
                <a:ea typeface="Cairo Light" pitchFamily="34" charset="-122"/>
                <a:cs typeface="Cairo Light" pitchFamily="34" charset="-120"/>
              </a:rPr>
              <a:t>العميل يجد المطعم على الخرائط ثم يضطر للبحث الطويل عن المنيو أو نسخ رقم الهاتف.</a:t>
            </a:r>
            <a:endParaRPr lang="en-US" sz="1400" dirty="0"/>
          </a:p>
        </p:txBody>
      </p:sp>
      <p:pic>
        <p:nvPicPr>
          <p:cNvPr id="8" name="Image 3" descr="preencoded.png">    </p:cNvPr>
          <p:cNvPicPr>
            <a:picLocks noChangeAspect="1"/>
          </p:cNvPicPr>
          <p:nvPr/>
        </p:nvPicPr>
        <p:blipFill>
          <a:blip r:embed="rId4"/>
          <a:stretch>
            <a:fillRect/>
          </a:stretch>
        </p:blipFill>
        <p:spPr>
          <a:xfrm>
            <a:off x="8729663" y="2966777"/>
            <a:ext cx="128588" cy="171450"/>
          </a:xfrm>
          <a:prstGeom prst="rect">
            <a:avLst/>
          </a:prstGeom>
        </p:spPr>
      </p:pic>
      <p:sp>
        <p:nvSpPr>
          <p:cNvPr id="9" name="Text 3"/>
          <p:cNvSpPr/>
          <p:nvPr/>
        </p:nvSpPr>
        <p:spPr>
          <a:xfrm>
            <a:off x="4400550" y="2891768"/>
            <a:ext cx="4186238" cy="464344"/>
          </a:xfrm>
          <a:prstGeom prst="rect">
            <a:avLst/>
          </a:prstGeom>
          <a:noFill/>
          <a:ln/>
        </p:spPr>
        <p:txBody>
          <a:bodyPr wrap="square" lIns="0" tIns="0" rIns="0" bIns="0" rtlCol="0" anchor="t">
            <a:spAutoFit/>
          </a:bodyPr>
          <a:lstStyle/>
          <a:p>
            <a:pPr algn="r" indent="0" marL="0">
              <a:lnSpc>
                <a:spcPct val="100000"/>
              </a:lnSpc>
              <a:buNone/>
            </a:pPr>
            <a:r>
              <a:rPr lang="en-US" sz="1400" dirty="0">
                <a:solidFill>
                  <a:srgbClr val="2D3748"/>
                </a:solidFill>
                <a:latin typeface="Cairo Light" pitchFamily="34" charset="0"/>
                <a:ea typeface="Cairo Light" pitchFamily="34" charset="-122"/>
                <a:cs typeface="Cairo Light" pitchFamily="34" charset="-120"/>
              </a:rPr>
              <a:t>صفحة هبوط مصممة للموبايل تختصر المسار: </a:t>
            </a:r>
            <a:r>
              <a:rPr lang="en-US" sz="1300" b="1" dirty="0">
                <a:solidFill>
                  <a:srgbClr val="1A202C"/>
                </a:solidFill>
                <a:latin typeface="Cairo ExtraBold" pitchFamily="34" charset="0"/>
                <a:ea typeface="Cairo ExtraBold" pitchFamily="34" charset="-122"/>
                <a:cs typeface="Cairo ExtraBold" pitchFamily="34" charset="-120"/>
              </a:rPr>
              <a:t>يشاهد </a:t>
            </a:r>
            <a:r>
              <a:rPr lang="en-US" sz="1300" b="1" dirty="0">
                <a:solidFill>
                  <a:srgbClr val="1A202C"/>
                </a:solidFill>
                <a:latin typeface="Cairo ExtraBold" pitchFamily="34" charset="0"/>
                <a:ea typeface="Cairo ExtraBold" pitchFamily="34" charset="-122"/>
                <a:cs typeface="Cairo ExtraBold" pitchFamily="34" charset="-120"/>
              </a:rPr>
              <a:t>العرض ← يختار ← يطلب على واتساب</a:t>
            </a:r>
            <a:r>
              <a:rPr lang="en-US" sz="1400" dirty="0">
                <a:solidFill>
                  <a:srgbClr val="2D3748"/>
                </a:solidFill>
                <a:latin typeface="Cairo Light" pitchFamily="34" charset="0"/>
                <a:ea typeface="Cairo Light" pitchFamily="34" charset="-122"/>
                <a:cs typeface="Cairo Light" pitchFamily="34" charset="-120"/>
              </a:rPr>
              <a:t>.</a:t>
            </a:r>
            <a:endParaRPr lang="en-US" sz="1400" dirty="0"/>
          </a:p>
        </p:txBody>
      </p:sp>
      <p:pic>
        <p:nvPicPr>
          <p:cNvPr id="10" name="Image 4" descr="preencoded.png">    </p:cNvPr>
          <p:cNvPicPr>
            <a:picLocks noChangeAspect="1"/>
          </p:cNvPicPr>
          <p:nvPr/>
        </p:nvPicPr>
        <p:blipFill>
          <a:blip r:embed="rId5"/>
          <a:stretch>
            <a:fillRect/>
          </a:stretch>
        </p:blipFill>
        <p:spPr>
          <a:xfrm>
            <a:off x="8686800" y="3516846"/>
            <a:ext cx="171450" cy="171450"/>
          </a:xfrm>
          <a:prstGeom prst="rect">
            <a:avLst/>
          </a:prstGeom>
        </p:spPr>
      </p:pic>
      <p:sp>
        <p:nvSpPr>
          <p:cNvPr id="11" name="Text 4"/>
          <p:cNvSpPr/>
          <p:nvPr/>
        </p:nvSpPr>
        <p:spPr>
          <a:xfrm>
            <a:off x="4400550" y="3441836"/>
            <a:ext cx="4143375" cy="464344"/>
          </a:xfrm>
          <a:prstGeom prst="rect">
            <a:avLst/>
          </a:prstGeom>
          <a:noFill/>
          <a:ln/>
        </p:spPr>
        <p:txBody>
          <a:bodyPr wrap="square" lIns="0" tIns="0" rIns="0" bIns="0" rtlCol="0" anchor="t">
            <a:spAutoFit/>
          </a:bodyPr>
          <a:lstStyle/>
          <a:p>
            <a:pPr algn="r" indent="0" marL="0">
              <a:lnSpc>
                <a:spcPct val="100000"/>
              </a:lnSpc>
              <a:buNone/>
            </a:pPr>
            <a:r>
              <a:rPr lang="en-US" sz="1400" dirty="0">
                <a:solidFill>
                  <a:srgbClr val="2D3748"/>
                </a:solidFill>
                <a:latin typeface="Cairo Light" pitchFamily="34" charset="0"/>
                <a:ea typeface="Cairo Light" pitchFamily="34" charset="-122"/>
                <a:cs typeface="Cairo Light" pitchFamily="34" charset="-120"/>
              </a:rPr>
              <a:t>الهدف التجاري: طلبات أوضح، استفسارات أقل، وقياس دقيق لنجاح العروض.</a:t>
            </a:r>
            <a:endParaRPr lang="en-US" sz="1400" dirty="0"/>
          </a:p>
        </p:txBody>
      </p:sp>
      <p:sp>
        <p:nvSpPr>
          <p:cNvPr id="12" name="Shape 5"/>
          <p:cNvSpPr/>
          <p:nvPr/>
        </p:nvSpPr>
        <p:spPr>
          <a:xfrm>
            <a:off x="0" y="0"/>
            <a:ext cx="4114800" cy="5143500"/>
          </a:xfrm>
          <a:prstGeom prst="rect">
            <a:avLst/>
          </a:prstGeom>
          <a:solidFill>
            <a:srgbClr val="E2E8F0"/>
          </a:solidFill>
          <a:ln/>
        </p:spPr>
      </p:sp>
      <p:pic>
        <p:nvPicPr>
          <p:cNvPr id="13" name="Image 5" descr="preencoded.png">    </p:cNvPr>
          <p:cNvPicPr>
            <a:picLocks noChangeAspect="1"/>
          </p:cNvPicPr>
          <p:nvPr/>
        </p:nvPicPr>
        <p:blipFill>
          <a:blip r:embed="rId6"/>
          <a:stretch>
            <a:fillRect/>
          </a:stretch>
        </p:blipFill>
        <p:spPr>
          <a:xfrm>
            <a:off x="0" y="1124024"/>
            <a:ext cx="4114800" cy="2895395"/>
          </a:xfrm>
          <a:prstGeom prst="rect">
            <a:avLst/>
          </a:prstGeom>
        </p:spPr>
      </p:pic>
      <p:sp>
        <p:nvSpPr>
          <p:cNvPr id="14" name="Shape 6"/>
          <p:cNvSpPr/>
          <p:nvPr/>
        </p:nvSpPr>
        <p:spPr>
          <a:xfrm>
            <a:off x="-285750" y="3864769"/>
            <a:ext cx="1728788" cy="992981"/>
          </a:xfrm>
          <a:prstGeom prst="rect">
            <a:avLst/>
          </a:prstGeom>
          <a:solidFill>
            <a:srgbClr val="1A202C"/>
          </a:solidFill>
          <a:ln/>
        </p:spPr>
      </p:sp>
      <p:sp>
        <p:nvSpPr>
          <p:cNvPr id="15" name="Shape 7"/>
          <p:cNvSpPr/>
          <p:nvPr/>
        </p:nvSpPr>
        <p:spPr>
          <a:xfrm>
            <a:off x="1400175" y="3864769"/>
            <a:ext cx="42863" cy="992981"/>
          </a:xfrm>
          <a:prstGeom prst="rect">
            <a:avLst/>
          </a:prstGeom>
          <a:solidFill>
            <a:srgbClr val="D69E2E"/>
          </a:solidFill>
          <a:ln/>
        </p:spPr>
      </p:sp>
      <p:sp>
        <p:nvSpPr>
          <p:cNvPr id="16" name="Text 8"/>
          <p:cNvSpPr/>
          <p:nvPr/>
        </p:nvSpPr>
        <p:spPr>
          <a:xfrm>
            <a:off x="-71437" y="4007644"/>
            <a:ext cx="1257300" cy="242888"/>
          </a:xfrm>
          <a:prstGeom prst="rect">
            <a:avLst/>
          </a:prstGeom>
          <a:noFill/>
          <a:ln/>
        </p:spPr>
        <p:txBody>
          <a:bodyPr wrap="none" lIns="0" tIns="0" rIns="0" bIns="0" rtlCol="0" anchor="t">
            <a:spAutoFit/>
          </a:bodyPr>
          <a:lstStyle/>
          <a:p>
            <a:pPr algn="l" indent="0" marL="0">
              <a:buNone/>
            </a:pPr>
            <a:r>
              <a:rPr lang="en-US" sz="950" spc="1" kern="0" dirty="0">
                <a:solidFill>
                  <a:srgbClr val="F7FAFC"/>
                </a:solidFill>
                <a:latin typeface="Cairo Light" pitchFamily="34" charset="0"/>
                <a:ea typeface="Cairo Light" pitchFamily="34" charset="-122"/>
                <a:cs typeface="Cairo Light" pitchFamily="34" charset="-120"/>
              </a:rPr>
              <a:t>الهدف الرئيسي</a:t>
            </a:r>
            <a:endParaRPr lang="en-US" sz="950" dirty="0"/>
          </a:p>
        </p:txBody>
      </p:sp>
      <p:sp>
        <p:nvSpPr>
          <p:cNvPr id="17" name="Text 9"/>
          <p:cNvSpPr/>
          <p:nvPr/>
        </p:nvSpPr>
        <p:spPr>
          <a:xfrm>
            <a:off x="-71437" y="4286250"/>
            <a:ext cx="1257300" cy="428625"/>
          </a:xfrm>
          <a:prstGeom prst="rect">
            <a:avLst/>
          </a:prstGeom>
          <a:noFill/>
          <a:ln/>
        </p:spPr>
        <p:txBody>
          <a:bodyPr wrap="none" lIns="0" tIns="0" rIns="0" bIns="0" rtlCol="0" anchor="t">
            <a:spAutoFit/>
          </a:bodyPr>
          <a:lstStyle/>
          <a:p>
            <a:pPr algn="l" indent="0" marL="0">
              <a:buNone/>
            </a:pPr>
            <a:r>
              <a:rPr lang="en-US" sz="1600" b="1" dirty="0">
                <a:solidFill>
                  <a:srgbClr val="D69E2E"/>
                </a:solidFill>
                <a:latin typeface="Cairo ExtraBold" pitchFamily="34" charset="0"/>
                <a:ea typeface="Cairo ExtraBold" pitchFamily="34" charset="-122"/>
                <a:cs typeface="Cairo ExtraBold" pitchFamily="34" charset="-120"/>
              </a:rPr>
              <a:t>تحويل سريع</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385662"/>
          </a:xfrm>
          <a:prstGeom prst="rect">
            <a:avLst/>
          </a:prstGeom>
        </p:spPr>
      </p:pic>
      <p:sp>
        <p:nvSpPr>
          <p:cNvPr id="3" name="Text 0"/>
          <p:cNvSpPr/>
          <p:nvPr/>
        </p:nvSpPr>
        <p:spPr>
          <a:xfrm>
            <a:off x="714375" y="685800"/>
            <a:ext cx="7715250" cy="445759"/>
          </a:xfrm>
          <a:prstGeom prst="rect">
            <a:avLst/>
          </a:prstGeom>
          <a:noFill/>
          <a:ln/>
        </p:spPr>
        <p:txBody>
          <a:bodyPr wrap="none" lIns="0" tIns="0" rIns="0" bIns="0" rtlCol="0" anchor="t">
            <a:spAutoFit/>
          </a:bodyPr>
          <a:lstStyle/>
          <a:p>
            <a:pPr algn="l" indent="0" marL="0">
              <a:lnSpc>
                <a:spcPct val="104000"/>
              </a:lnSpc>
              <a:buNone/>
            </a:pPr>
            <a:r>
              <a:rPr lang="en-US" sz="2450" b="1" dirty="0">
                <a:solidFill>
                  <a:srgbClr val="1A202C"/>
                </a:solidFill>
                <a:latin typeface="Cairo ExtraBold" pitchFamily="34" charset="0"/>
                <a:ea typeface="Cairo ExtraBold" pitchFamily="34" charset="-122"/>
                <a:cs typeface="Cairo ExtraBold" pitchFamily="34" charset="-120"/>
              </a:rPr>
              <a:t>لدينا مطاعم قوية جاهزة للاستفادة</a:t>
            </a:r>
            <a:endParaRPr lang="en-US" sz="2450" dirty="0"/>
          </a:p>
        </p:txBody>
      </p:sp>
      <p:sp>
        <p:nvSpPr>
          <p:cNvPr id="4" name="Shape 1"/>
          <p:cNvSpPr/>
          <p:nvPr/>
        </p:nvSpPr>
        <p:spPr>
          <a:xfrm>
            <a:off x="5771648" y="1274434"/>
            <a:ext cx="2657977" cy="564356"/>
          </a:xfrm>
          <a:prstGeom prst="rect">
            <a:avLst/>
          </a:prstGeom>
          <a:solidFill>
            <a:srgbClr val="1A202C"/>
          </a:solidFill>
          <a:ln/>
        </p:spPr>
      </p:sp>
      <p:sp>
        <p:nvSpPr>
          <p:cNvPr id="5" name="Shape 2"/>
          <p:cNvSpPr/>
          <p:nvPr/>
        </p:nvSpPr>
        <p:spPr>
          <a:xfrm>
            <a:off x="5771648" y="1810215"/>
            <a:ext cx="2657977" cy="28575"/>
          </a:xfrm>
          <a:prstGeom prst="rect">
            <a:avLst/>
          </a:prstGeom>
          <a:solidFill>
            <a:srgbClr val="D69E2E"/>
          </a:solidFill>
          <a:ln/>
        </p:spPr>
      </p:sp>
      <p:sp>
        <p:nvSpPr>
          <p:cNvPr id="6" name="Text 3"/>
          <p:cNvSpPr/>
          <p:nvPr/>
        </p:nvSpPr>
        <p:spPr>
          <a:xfrm>
            <a:off x="5771648" y="1274434"/>
            <a:ext cx="2657977" cy="564356"/>
          </a:xfrm>
          <a:prstGeom prst="rect">
            <a:avLst/>
          </a:prstGeom>
          <a:noFill/>
          <a:ln/>
        </p:spPr>
        <p:txBody>
          <a:bodyPr wrap="square" lIns="136017" tIns="136017" rIns="136017" bIns="136017" rtlCol="0" anchor="ctr">
            <a:spAutoFit/>
          </a:bodyPr>
          <a:lstStyle/>
          <a:p>
            <a:pPr algn="r" indent="0" marL="0">
              <a:buNone/>
            </a:pPr>
            <a:r>
              <a:rPr lang="en-US" sz="1200" b="1" dirty="0">
                <a:solidFill>
                  <a:srgbClr val="F7FAFC"/>
                </a:solidFill>
                <a:latin typeface="Cairo ExtraBold" pitchFamily="34" charset="0"/>
                <a:ea typeface="Cairo ExtraBold" pitchFamily="34" charset="-122"/>
                <a:cs typeface="Cairo ExtraBold" pitchFamily="34" charset="-120"/>
              </a:rPr>
              <a:t>المطعم</a:t>
            </a:r>
            <a:endParaRPr lang="en-US" sz="1200" dirty="0"/>
          </a:p>
        </p:txBody>
      </p:sp>
      <p:sp>
        <p:nvSpPr>
          <p:cNvPr id="7" name="Shape 4"/>
          <p:cNvSpPr/>
          <p:nvPr/>
        </p:nvSpPr>
        <p:spPr>
          <a:xfrm>
            <a:off x="3854611" y="1274434"/>
            <a:ext cx="1917036" cy="564356"/>
          </a:xfrm>
          <a:prstGeom prst="rect">
            <a:avLst/>
          </a:prstGeom>
          <a:solidFill>
            <a:srgbClr val="1A202C"/>
          </a:solidFill>
          <a:ln/>
        </p:spPr>
      </p:sp>
      <p:sp>
        <p:nvSpPr>
          <p:cNvPr id="8" name="Shape 5"/>
          <p:cNvSpPr/>
          <p:nvPr/>
        </p:nvSpPr>
        <p:spPr>
          <a:xfrm>
            <a:off x="3854611" y="1810215"/>
            <a:ext cx="1917036" cy="28575"/>
          </a:xfrm>
          <a:prstGeom prst="rect">
            <a:avLst/>
          </a:prstGeom>
          <a:solidFill>
            <a:srgbClr val="D69E2E"/>
          </a:solidFill>
          <a:ln/>
        </p:spPr>
      </p:sp>
      <p:sp>
        <p:nvSpPr>
          <p:cNvPr id="9" name="Text 6"/>
          <p:cNvSpPr/>
          <p:nvPr/>
        </p:nvSpPr>
        <p:spPr>
          <a:xfrm>
            <a:off x="3854611" y="1274434"/>
            <a:ext cx="1917036" cy="564356"/>
          </a:xfrm>
          <a:prstGeom prst="rect">
            <a:avLst/>
          </a:prstGeom>
          <a:noFill/>
          <a:ln/>
        </p:spPr>
        <p:txBody>
          <a:bodyPr wrap="square" lIns="136017" tIns="136017" rIns="136017" bIns="136017" rtlCol="0" anchor="ctr">
            <a:spAutoFit/>
          </a:bodyPr>
          <a:lstStyle/>
          <a:p>
            <a:pPr algn="r" indent="0" marL="0">
              <a:buNone/>
            </a:pPr>
            <a:r>
              <a:rPr lang="en-US" sz="1200" b="1" dirty="0">
                <a:solidFill>
                  <a:srgbClr val="F7FAFC"/>
                </a:solidFill>
                <a:latin typeface="Cairo ExtraBold" pitchFamily="34" charset="0"/>
                <a:ea typeface="Cairo ExtraBold" pitchFamily="34" charset="-122"/>
                <a:cs typeface="Cairo ExtraBold" pitchFamily="34" charset="-120"/>
              </a:rPr>
              <a:t>المدينة</a:t>
            </a:r>
            <a:endParaRPr lang="en-US" sz="1200" dirty="0"/>
          </a:p>
        </p:txBody>
      </p:sp>
      <p:sp>
        <p:nvSpPr>
          <p:cNvPr id="10" name="Shape 7"/>
          <p:cNvSpPr/>
          <p:nvPr/>
        </p:nvSpPr>
        <p:spPr>
          <a:xfrm>
            <a:off x="2378646" y="1274434"/>
            <a:ext cx="1475966" cy="564356"/>
          </a:xfrm>
          <a:prstGeom prst="rect">
            <a:avLst/>
          </a:prstGeom>
          <a:solidFill>
            <a:srgbClr val="1A202C"/>
          </a:solidFill>
          <a:ln/>
        </p:spPr>
      </p:sp>
      <p:sp>
        <p:nvSpPr>
          <p:cNvPr id="11" name="Shape 8"/>
          <p:cNvSpPr/>
          <p:nvPr/>
        </p:nvSpPr>
        <p:spPr>
          <a:xfrm>
            <a:off x="2378646" y="1810215"/>
            <a:ext cx="1475966" cy="28575"/>
          </a:xfrm>
          <a:prstGeom prst="rect">
            <a:avLst/>
          </a:prstGeom>
          <a:solidFill>
            <a:srgbClr val="D69E2E"/>
          </a:solidFill>
          <a:ln/>
        </p:spPr>
      </p:sp>
      <p:sp>
        <p:nvSpPr>
          <p:cNvPr id="12" name="Text 9"/>
          <p:cNvSpPr/>
          <p:nvPr/>
        </p:nvSpPr>
        <p:spPr>
          <a:xfrm>
            <a:off x="2378646" y="1274434"/>
            <a:ext cx="1475966" cy="564356"/>
          </a:xfrm>
          <a:prstGeom prst="rect">
            <a:avLst/>
          </a:prstGeom>
          <a:noFill/>
          <a:ln/>
        </p:spPr>
        <p:txBody>
          <a:bodyPr wrap="square" lIns="136017" tIns="136017" rIns="136017" bIns="136017" rtlCol="0" anchor="ctr">
            <a:spAutoFit/>
          </a:bodyPr>
          <a:lstStyle/>
          <a:p>
            <a:pPr algn="r" indent="0" marL="0">
              <a:buNone/>
            </a:pPr>
            <a:r>
              <a:rPr lang="en-US" sz="1200" b="1" dirty="0">
                <a:solidFill>
                  <a:srgbClr val="F7FAFC"/>
                </a:solidFill>
                <a:latin typeface="Cairo ExtraBold" pitchFamily="34" charset="0"/>
                <a:ea typeface="Cairo ExtraBold" pitchFamily="34" charset="-122"/>
                <a:cs typeface="Cairo ExtraBold" pitchFamily="34" charset="-120"/>
              </a:rPr>
              <a:t>التقييم</a:t>
            </a:r>
            <a:endParaRPr lang="en-US" sz="1200" dirty="0"/>
          </a:p>
        </p:txBody>
      </p:sp>
      <p:sp>
        <p:nvSpPr>
          <p:cNvPr id="13" name="Shape 10"/>
          <p:cNvSpPr/>
          <p:nvPr/>
        </p:nvSpPr>
        <p:spPr>
          <a:xfrm>
            <a:off x="714375" y="1274434"/>
            <a:ext cx="1664271" cy="564356"/>
          </a:xfrm>
          <a:prstGeom prst="rect">
            <a:avLst/>
          </a:prstGeom>
          <a:solidFill>
            <a:srgbClr val="1A202C"/>
          </a:solidFill>
          <a:ln/>
        </p:spPr>
      </p:sp>
      <p:sp>
        <p:nvSpPr>
          <p:cNvPr id="14" name="Shape 11"/>
          <p:cNvSpPr/>
          <p:nvPr/>
        </p:nvSpPr>
        <p:spPr>
          <a:xfrm>
            <a:off x="714375" y="1810215"/>
            <a:ext cx="1664271" cy="28575"/>
          </a:xfrm>
          <a:prstGeom prst="rect">
            <a:avLst/>
          </a:prstGeom>
          <a:solidFill>
            <a:srgbClr val="D69E2E"/>
          </a:solidFill>
          <a:ln/>
        </p:spPr>
      </p:sp>
      <p:sp>
        <p:nvSpPr>
          <p:cNvPr id="15" name="Text 12"/>
          <p:cNvSpPr/>
          <p:nvPr/>
        </p:nvSpPr>
        <p:spPr>
          <a:xfrm>
            <a:off x="714375" y="1274434"/>
            <a:ext cx="1664271" cy="564356"/>
          </a:xfrm>
          <a:prstGeom prst="rect">
            <a:avLst/>
          </a:prstGeom>
          <a:noFill/>
          <a:ln/>
        </p:spPr>
        <p:txBody>
          <a:bodyPr wrap="square" lIns="136017" tIns="136017" rIns="136017" bIns="136017" rtlCol="0" anchor="ctr">
            <a:spAutoFit/>
          </a:bodyPr>
          <a:lstStyle/>
          <a:p>
            <a:pPr algn="r" indent="0" marL="0">
              <a:buNone/>
            </a:pPr>
            <a:r>
              <a:rPr lang="en-US" sz="1200" b="1" dirty="0">
                <a:solidFill>
                  <a:srgbClr val="F7FAFC"/>
                </a:solidFill>
                <a:latin typeface="Cairo ExtraBold" pitchFamily="34" charset="0"/>
                <a:ea typeface="Cairo ExtraBold" pitchFamily="34" charset="-122"/>
                <a:cs typeface="Cairo ExtraBold" pitchFamily="34" charset="-120"/>
              </a:rPr>
              <a:t>المراجعات</a:t>
            </a:r>
            <a:endParaRPr lang="en-US" sz="1200" dirty="0"/>
          </a:p>
        </p:txBody>
      </p:sp>
      <p:sp>
        <p:nvSpPr>
          <p:cNvPr id="16" name="Text 13"/>
          <p:cNvSpPr/>
          <p:nvPr/>
        </p:nvSpPr>
        <p:spPr>
          <a:xfrm>
            <a:off x="5771648" y="1824503"/>
            <a:ext cx="2657977" cy="550069"/>
          </a:xfrm>
          <a:prstGeom prst="rect">
            <a:avLst/>
          </a:prstGeom>
          <a:noFill/>
          <a:ln/>
        </p:spPr>
        <p:txBody>
          <a:bodyPr wrap="square" lIns="136017" tIns="102108" rIns="136017" bIns="102108" rtlCol="0" anchor="ctr">
            <a:spAutoFit/>
          </a:bodyPr>
          <a:lstStyle/>
          <a:p>
            <a:pPr algn="r" indent="0" marL="0">
              <a:buNone/>
            </a:pPr>
            <a:r>
              <a:rPr lang="en-US" sz="1250" dirty="0">
                <a:solidFill>
                  <a:srgbClr val="2D3748"/>
                </a:solidFill>
                <a:latin typeface="Cairo Light" pitchFamily="34" charset="0"/>
                <a:ea typeface="Cairo Light" pitchFamily="34" charset="-122"/>
                <a:cs typeface="Cairo Light" pitchFamily="34" charset="-120"/>
              </a:rPr>
              <a:t>عرابي</a:t>
            </a:r>
            <a:endParaRPr lang="en-US" sz="1250" dirty="0"/>
          </a:p>
        </p:txBody>
      </p:sp>
      <p:sp>
        <p:nvSpPr>
          <p:cNvPr id="17" name="Text 14"/>
          <p:cNvSpPr/>
          <p:nvPr/>
        </p:nvSpPr>
        <p:spPr>
          <a:xfrm>
            <a:off x="3854611" y="1824503"/>
            <a:ext cx="1917036" cy="550069"/>
          </a:xfrm>
          <a:prstGeom prst="rect">
            <a:avLst/>
          </a:prstGeom>
          <a:noFill/>
          <a:ln/>
        </p:spPr>
        <p:txBody>
          <a:bodyPr wrap="square" lIns="136017" tIns="102108" rIns="136017" bIns="102108" rtlCol="0" anchor="ctr">
            <a:spAutoFit/>
          </a:bodyPr>
          <a:lstStyle/>
          <a:p>
            <a:pPr algn="r" indent="0" marL="0">
              <a:buNone/>
            </a:pPr>
            <a:r>
              <a:rPr lang="en-US" sz="1250" dirty="0">
                <a:solidFill>
                  <a:srgbClr val="2D3748"/>
                </a:solidFill>
                <a:latin typeface="Cairo Light" pitchFamily="34" charset="0"/>
                <a:ea typeface="Cairo Light" pitchFamily="34" charset="-122"/>
                <a:cs typeface="Cairo Light" pitchFamily="34" charset="-120"/>
              </a:rPr>
              <a:t>شبين الكوم</a:t>
            </a:r>
            <a:endParaRPr lang="en-US" sz="1250" dirty="0"/>
          </a:p>
        </p:txBody>
      </p:sp>
      <p:sp>
        <p:nvSpPr>
          <p:cNvPr id="18" name="Text 15"/>
          <p:cNvSpPr/>
          <p:nvPr/>
        </p:nvSpPr>
        <p:spPr>
          <a:xfrm>
            <a:off x="3218817" y="1910228"/>
            <a:ext cx="521494" cy="375047"/>
          </a:xfrm>
          <a:prstGeom prst="rect">
            <a:avLst/>
          </a:prstGeom>
          <a:noFill/>
          <a:ln/>
        </p:spPr>
        <p:txBody>
          <a:bodyPr wrap="none" lIns="0" tIns="0" rIns="0" bIns="0" rtlCol="0" anchor="t">
            <a:spAutoFit/>
          </a:bodyPr>
          <a:lstStyle/>
          <a:p>
            <a:pPr algn="r" indent="0" marL="0">
              <a:buNone/>
            </a:pPr>
            <a:r>
              <a:rPr lang="en-US" sz="1400" b="1" dirty="0">
                <a:solidFill>
                  <a:srgbClr val="D69E2E"/>
                </a:solidFill>
                <a:latin typeface="Cairo ExtraBold" pitchFamily="34" charset="0"/>
                <a:ea typeface="Cairo ExtraBold" pitchFamily="34" charset="-122"/>
                <a:cs typeface="Cairo ExtraBold" pitchFamily="34" charset="-120"/>
              </a:rPr>
              <a:t>4.6/5</a:t>
            </a:r>
            <a:endParaRPr lang="en-US" sz="1400" dirty="0"/>
          </a:p>
        </p:txBody>
      </p:sp>
      <p:pic>
        <p:nvPicPr>
          <p:cNvPr id="19" name="Image 1" descr="preencoded.png">    </p:cNvPr>
          <p:cNvPicPr>
            <a:picLocks noChangeAspect="1"/>
          </p:cNvPicPr>
          <p:nvPr/>
        </p:nvPicPr>
        <p:blipFill>
          <a:blip r:embed="rId2"/>
          <a:stretch>
            <a:fillRect/>
          </a:stretch>
        </p:blipFill>
        <p:spPr>
          <a:xfrm>
            <a:off x="3072371" y="2060246"/>
            <a:ext cx="146447" cy="128588"/>
          </a:xfrm>
          <a:prstGeom prst="rect">
            <a:avLst/>
          </a:prstGeom>
        </p:spPr>
      </p:pic>
      <p:sp>
        <p:nvSpPr>
          <p:cNvPr id="20" name="Text 16"/>
          <p:cNvSpPr/>
          <p:nvPr/>
        </p:nvSpPr>
        <p:spPr>
          <a:xfrm>
            <a:off x="714375" y="1824503"/>
            <a:ext cx="1664271" cy="550069"/>
          </a:xfrm>
          <a:prstGeom prst="rect">
            <a:avLst/>
          </a:prstGeom>
          <a:noFill/>
          <a:ln/>
        </p:spPr>
        <p:txBody>
          <a:bodyPr wrap="square" lIns="136017" tIns="102108" rIns="136017" bIns="102108" rtlCol="0" anchor="ctr">
            <a:spAutoFit/>
          </a:bodyPr>
          <a:lstStyle/>
          <a:p>
            <a:pPr algn="r" indent="0" marL="0">
              <a:buNone/>
            </a:pPr>
            <a:r>
              <a:rPr lang="en-US" sz="1200" b="1" dirty="0">
                <a:solidFill>
                  <a:srgbClr val="2D3748"/>
                </a:solidFill>
                <a:latin typeface="Cairo ExtraBold" pitchFamily="34" charset="0"/>
                <a:ea typeface="Cairo ExtraBold" pitchFamily="34" charset="-122"/>
                <a:cs typeface="Cairo ExtraBold" pitchFamily="34" charset="-120"/>
              </a:rPr>
              <a:t>454</a:t>
            </a:r>
            <a:endParaRPr lang="en-US" sz="1200" dirty="0"/>
          </a:p>
        </p:txBody>
      </p:sp>
      <p:sp>
        <p:nvSpPr>
          <p:cNvPr id="21" name="Shape 17"/>
          <p:cNvSpPr/>
          <p:nvPr/>
        </p:nvSpPr>
        <p:spPr>
          <a:xfrm>
            <a:off x="714375" y="2374571"/>
            <a:ext cx="7715250" cy="553641"/>
          </a:xfrm>
          <a:prstGeom prst="rect">
            <a:avLst/>
          </a:prstGeom>
          <a:solidFill>
            <a:srgbClr val="E2E8F0">
              <a:alpha val="40000"/>
            </a:srgbClr>
          </a:solidFill>
          <a:ln/>
        </p:spPr>
      </p:sp>
      <p:sp>
        <p:nvSpPr>
          <p:cNvPr id="22" name="Text 18"/>
          <p:cNvSpPr/>
          <p:nvPr/>
        </p:nvSpPr>
        <p:spPr>
          <a:xfrm>
            <a:off x="5771648" y="2374571"/>
            <a:ext cx="2657977" cy="553641"/>
          </a:xfrm>
          <a:prstGeom prst="rect">
            <a:avLst/>
          </a:prstGeom>
          <a:noFill/>
          <a:ln/>
        </p:spPr>
        <p:txBody>
          <a:bodyPr wrap="square" lIns="136017" tIns="102108" rIns="136017" bIns="102108" rtlCol="0" anchor="ctr">
            <a:spAutoFit/>
          </a:bodyPr>
          <a:lstStyle/>
          <a:p>
            <a:pPr algn="r" indent="0" marL="0">
              <a:buNone/>
            </a:pPr>
            <a:r>
              <a:rPr lang="en-US" sz="1250" dirty="0">
                <a:solidFill>
                  <a:srgbClr val="2D3748"/>
                </a:solidFill>
                <a:latin typeface="Cairo Light" pitchFamily="34" charset="0"/>
                <a:ea typeface="Cairo Light" pitchFamily="34" charset="-122"/>
                <a:cs typeface="Cairo Light" pitchFamily="34" charset="-120"/>
              </a:rPr>
              <a:t>طيبة للأكلات السورية</a:t>
            </a:r>
            <a:endParaRPr lang="en-US" sz="1250" dirty="0"/>
          </a:p>
        </p:txBody>
      </p:sp>
      <p:sp>
        <p:nvSpPr>
          <p:cNvPr id="23" name="Text 19"/>
          <p:cNvSpPr/>
          <p:nvPr/>
        </p:nvSpPr>
        <p:spPr>
          <a:xfrm>
            <a:off x="3854611" y="2374571"/>
            <a:ext cx="1917036" cy="553641"/>
          </a:xfrm>
          <a:prstGeom prst="rect">
            <a:avLst/>
          </a:prstGeom>
          <a:noFill/>
          <a:ln/>
        </p:spPr>
        <p:txBody>
          <a:bodyPr wrap="square" lIns="136017" tIns="102108" rIns="136017" bIns="102108" rtlCol="0" anchor="ctr">
            <a:spAutoFit/>
          </a:bodyPr>
          <a:lstStyle/>
          <a:p>
            <a:pPr algn="r" indent="0" marL="0">
              <a:buNone/>
            </a:pPr>
            <a:r>
              <a:rPr lang="en-US" sz="1250" dirty="0">
                <a:solidFill>
                  <a:srgbClr val="2D3748"/>
                </a:solidFill>
                <a:latin typeface="Cairo Light" pitchFamily="34" charset="0"/>
                <a:ea typeface="Cairo Light" pitchFamily="34" charset="-122"/>
                <a:cs typeface="Cairo Light" pitchFamily="34" charset="-120"/>
              </a:rPr>
              <a:t>مدينة السادات</a:t>
            </a:r>
            <a:endParaRPr lang="en-US" sz="1250" dirty="0"/>
          </a:p>
        </p:txBody>
      </p:sp>
      <p:sp>
        <p:nvSpPr>
          <p:cNvPr id="24" name="Text 20"/>
          <p:cNvSpPr/>
          <p:nvPr/>
        </p:nvSpPr>
        <p:spPr>
          <a:xfrm>
            <a:off x="3218817" y="2463868"/>
            <a:ext cx="521494" cy="375047"/>
          </a:xfrm>
          <a:prstGeom prst="rect">
            <a:avLst/>
          </a:prstGeom>
          <a:noFill/>
          <a:ln/>
        </p:spPr>
        <p:txBody>
          <a:bodyPr wrap="none" lIns="0" tIns="0" rIns="0" bIns="0" rtlCol="0" anchor="t">
            <a:spAutoFit/>
          </a:bodyPr>
          <a:lstStyle/>
          <a:p>
            <a:pPr algn="r" indent="0" marL="0">
              <a:buNone/>
            </a:pPr>
            <a:r>
              <a:rPr lang="en-US" sz="1400" b="1" dirty="0">
                <a:solidFill>
                  <a:srgbClr val="D69E2E"/>
                </a:solidFill>
                <a:latin typeface="Cairo ExtraBold" pitchFamily="34" charset="0"/>
                <a:ea typeface="Cairo ExtraBold" pitchFamily="34" charset="-122"/>
                <a:cs typeface="Cairo ExtraBold" pitchFamily="34" charset="-120"/>
              </a:rPr>
              <a:t>4.2/5</a:t>
            </a:r>
            <a:endParaRPr lang="en-US" sz="1400" dirty="0"/>
          </a:p>
        </p:txBody>
      </p:sp>
      <p:pic>
        <p:nvPicPr>
          <p:cNvPr id="25" name="Image 2" descr="preencoded.png">    </p:cNvPr>
          <p:cNvPicPr>
            <a:picLocks noChangeAspect="1"/>
          </p:cNvPicPr>
          <p:nvPr/>
        </p:nvPicPr>
        <p:blipFill>
          <a:blip r:embed="rId3"/>
          <a:stretch>
            <a:fillRect/>
          </a:stretch>
        </p:blipFill>
        <p:spPr>
          <a:xfrm>
            <a:off x="3072371" y="2613887"/>
            <a:ext cx="146447" cy="128588"/>
          </a:xfrm>
          <a:prstGeom prst="rect">
            <a:avLst/>
          </a:prstGeom>
        </p:spPr>
      </p:pic>
      <p:sp>
        <p:nvSpPr>
          <p:cNvPr id="26" name="Text 21"/>
          <p:cNvSpPr/>
          <p:nvPr/>
        </p:nvSpPr>
        <p:spPr>
          <a:xfrm>
            <a:off x="714375" y="2374571"/>
            <a:ext cx="1664271" cy="553641"/>
          </a:xfrm>
          <a:prstGeom prst="rect">
            <a:avLst/>
          </a:prstGeom>
          <a:noFill/>
          <a:ln/>
        </p:spPr>
        <p:txBody>
          <a:bodyPr wrap="square" lIns="136017" tIns="102108" rIns="136017" bIns="102108" rtlCol="0" anchor="ctr">
            <a:spAutoFit/>
          </a:bodyPr>
          <a:lstStyle/>
          <a:p>
            <a:pPr algn="r" indent="0" marL="0">
              <a:buNone/>
            </a:pPr>
            <a:r>
              <a:rPr lang="en-US" sz="1200" b="1" dirty="0">
                <a:solidFill>
                  <a:srgbClr val="2D3748"/>
                </a:solidFill>
                <a:latin typeface="Cairo ExtraBold" pitchFamily="34" charset="0"/>
                <a:ea typeface="Cairo ExtraBold" pitchFamily="34" charset="-122"/>
                <a:cs typeface="Cairo ExtraBold" pitchFamily="34" charset="-120"/>
              </a:rPr>
              <a:t>720</a:t>
            </a:r>
            <a:endParaRPr lang="en-US" sz="1200" dirty="0"/>
          </a:p>
        </p:txBody>
      </p:sp>
      <p:sp>
        <p:nvSpPr>
          <p:cNvPr id="27" name="Text 22"/>
          <p:cNvSpPr/>
          <p:nvPr/>
        </p:nvSpPr>
        <p:spPr>
          <a:xfrm>
            <a:off x="5771648" y="2928212"/>
            <a:ext cx="2657977" cy="553641"/>
          </a:xfrm>
          <a:prstGeom prst="rect">
            <a:avLst/>
          </a:prstGeom>
          <a:noFill/>
          <a:ln/>
        </p:spPr>
        <p:txBody>
          <a:bodyPr wrap="square" lIns="136017" tIns="102108" rIns="136017" bIns="102108" rtlCol="0" anchor="ctr">
            <a:spAutoFit/>
          </a:bodyPr>
          <a:lstStyle/>
          <a:p>
            <a:pPr algn="r" indent="0" marL="0">
              <a:buNone/>
            </a:pPr>
            <a:r>
              <a:rPr lang="en-US" sz="1250" dirty="0">
                <a:solidFill>
                  <a:srgbClr val="2D3748"/>
                </a:solidFill>
                <a:latin typeface="Cairo Light" pitchFamily="34" charset="0"/>
                <a:ea typeface="Cairo Light" pitchFamily="34" charset="-122"/>
                <a:cs typeface="Cairo Light" pitchFamily="34" charset="-120"/>
              </a:rPr>
              <a:t>مشويات مولانا</a:t>
            </a:r>
            <a:endParaRPr lang="en-US" sz="1250" dirty="0"/>
          </a:p>
        </p:txBody>
      </p:sp>
      <p:sp>
        <p:nvSpPr>
          <p:cNvPr id="28" name="Text 23"/>
          <p:cNvSpPr/>
          <p:nvPr/>
        </p:nvSpPr>
        <p:spPr>
          <a:xfrm>
            <a:off x="3854611" y="2928212"/>
            <a:ext cx="1917036" cy="553641"/>
          </a:xfrm>
          <a:prstGeom prst="rect">
            <a:avLst/>
          </a:prstGeom>
          <a:noFill/>
          <a:ln/>
        </p:spPr>
        <p:txBody>
          <a:bodyPr wrap="square" lIns="136017" tIns="102108" rIns="136017" bIns="102108" rtlCol="0" anchor="ctr">
            <a:spAutoFit/>
          </a:bodyPr>
          <a:lstStyle/>
          <a:p>
            <a:pPr algn="r" indent="0" marL="0">
              <a:buNone/>
            </a:pPr>
            <a:r>
              <a:rPr lang="en-US" sz="1250" dirty="0">
                <a:solidFill>
                  <a:srgbClr val="2D3748"/>
                </a:solidFill>
                <a:latin typeface="Cairo Light" pitchFamily="34" charset="0"/>
                <a:ea typeface="Cairo Light" pitchFamily="34" charset="-122"/>
                <a:cs typeface="Cairo Light" pitchFamily="34" charset="-120"/>
              </a:rPr>
              <a:t>شبين الكوم</a:t>
            </a:r>
            <a:endParaRPr lang="en-US" sz="1250" dirty="0"/>
          </a:p>
        </p:txBody>
      </p:sp>
      <p:sp>
        <p:nvSpPr>
          <p:cNvPr id="29" name="Text 24"/>
          <p:cNvSpPr/>
          <p:nvPr/>
        </p:nvSpPr>
        <p:spPr>
          <a:xfrm>
            <a:off x="3218817" y="3017509"/>
            <a:ext cx="521494" cy="375047"/>
          </a:xfrm>
          <a:prstGeom prst="rect">
            <a:avLst/>
          </a:prstGeom>
          <a:noFill/>
          <a:ln/>
        </p:spPr>
        <p:txBody>
          <a:bodyPr wrap="none" lIns="0" tIns="0" rIns="0" bIns="0" rtlCol="0" anchor="t">
            <a:spAutoFit/>
          </a:bodyPr>
          <a:lstStyle/>
          <a:p>
            <a:pPr algn="r" indent="0" marL="0">
              <a:buNone/>
            </a:pPr>
            <a:r>
              <a:rPr lang="en-US" sz="1400" b="1" dirty="0">
                <a:solidFill>
                  <a:srgbClr val="D69E2E"/>
                </a:solidFill>
                <a:latin typeface="Cairo ExtraBold" pitchFamily="34" charset="0"/>
                <a:ea typeface="Cairo ExtraBold" pitchFamily="34" charset="-122"/>
                <a:cs typeface="Cairo ExtraBold" pitchFamily="34" charset="-120"/>
              </a:rPr>
              <a:t>4.1/5</a:t>
            </a:r>
            <a:endParaRPr lang="en-US" sz="1400" dirty="0"/>
          </a:p>
        </p:txBody>
      </p:sp>
      <p:pic>
        <p:nvPicPr>
          <p:cNvPr id="30" name="Image 3" descr="preencoded.png">    </p:cNvPr>
          <p:cNvPicPr>
            <a:picLocks noChangeAspect="1"/>
          </p:cNvPicPr>
          <p:nvPr/>
        </p:nvPicPr>
        <p:blipFill>
          <a:blip r:embed="rId4"/>
          <a:stretch>
            <a:fillRect/>
          </a:stretch>
        </p:blipFill>
        <p:spPr>
          <a:xfrm>
            <a:off x="3072371" y="3167528"/>
            <a:ext cx="146447" cy="128588"/>
          </a:xfrm>
          <a:prstGeom prst="rect">
            <a:avLst/>
          </a:prstGeom>
        </p:spPr>
      </p:pic>
      <p:sp>
        <p:nvSpPr>
          <p:cNvPr id="31" name="Text 25"/>
          <p:cNvSpPr/>
          <p:nvPr/>
        </p:nvSpPr>
        <p:spPr>
          <a:xfrm>
            <a:off x="714375" y="2928212"/>
            <a:ext cx="1664271" cy="553641"/>
          </a:xfrm>
          <a:prstGeom prst="rect">
            <a:avLst/>
          </a:prstGeom>
          <a:noFill/>
          <a:ln/>
        </p:spPr>
        <p:txBody>
          <a:bodyPr wrap="square" lIns="136017" tIns="102108" rIns="136017" bIns="102108" rtlCol="0" anchor="ctr">
            <a:spAutoFit/>
          </a:bodyPr>
          <a:lstStyle/>
          <a:p>
            <a:pPr algn="r" indent="0" marL="0">
              <a:buNone/>
            </a:pPr>
            <a:r>
              <a:rPr lang="en-US" sz="1200" b="1" dirty="0">
                <a:solidFill>
                  <a:srgbClr val="2D3748"/>
                </a:solidFill>
                <a:latin typeface="Cairo ExtraBold" pitchFamily="34" charset="0"/>
                <a:ea typeface="Cairo ExtraBold" pitchFamily="34" charset="-122"/>
                <a:cs typeface="Cairo ExtraBold" pitchFamily="34" charset="-120"/>
              </a:rPr>
              <a:t>802</a:t>
            </a:r>
            <a:endParaRPr lang="en-US" sz="1200" dirty="0"/>
          </a:p>
        </p:txBody>
      </p:sp>
      <p:sp>
        <p:nvSpPr>
          <p:cNvPr id="32" name="Shape 26"/>
          <p:cNvSpPr/>
          <p:nvPr/>
        </p:nvSpPr>
        <p:spPr>
          <a:xfrm>
            <a:off x="714375" y="3481853"/>
            <a:ext cx="7715250" cy="553641"/>
          </a:xfrm>
          <a:prstGeom prst="rect">
            <a:avLst/>
          </a:prstGeom>
          <a:solidFill>
            <a:srgbClr val="E2E8F0">
              <a:alpha val="40000"/>
            </a:srgbClr>
          </a:solidFill>
          <a:ln/>
        </p:spPr>
      </p:sp>
      <p:sp>
        <p:nvSpPr>
          <p:cNvPr id="33" name="Text 27"/>
          <p:cNvSpPr/>
          <p:nvPr/>
        </p:nvSpPr>
        <p:spPr>
          <a:xfrm>
            <a:off x="5771648" y="3481853"/>
            <a:ext cx="2657977" cy="553641"/>
          </a:xfrm>
          <a:prstGeom prst="rect">
            <a:avLst/>
          </a:prstGeom>
          <a:noFill/>
          <a:ln/>
        </p:spPr>
        <p:txBody>
          <a:bodyPr wrap="square" lIns="136017" tIns="102108" rIns="136017" bIns="102108" rtlCol="0" anchor="ctr">
            <a:spAutoFit/>
          </a:bodyPr>
          <a:lstStyle/>
          <a:p>
            <a:pPr algn="r" indent="0" marL="0">
              <a:buNone/>
            </a:pPr>
            <a:r>
              <a:rPr lang="en-US" sz="1250" dirty="0">
                <a:solidFill>
                  <a:srgbClr val="2D3748"/>
                </a:solidFill>
                <a:latin typeface="Cairo Light" pitchFamily="34" charset="0"/>
                <a:ea typeface="Cairo Light" pitchFamily="34" charset="-122"/>
                <a:cs typeface="Cairo Light" pitchFamily="34" charset="-120"/>
              </a:rPr>
              <a:t>كاتشب</a:t>
            </a:r>
            <a:endParaRPr lang="en-US" sz="1250" dirty="0"/>
          </a:p>
        </p:txBody>
      </p:sp>
      <p:sp>
        <p:nvSpPr>
          <p:cNvPr id="34" name="Text 28"/>
          <p:cNvSpPr/>
          <p:nvPr/>
        </p:nvSpPr>
        <p:spPr>
          <a:xfrm>
            <a:off x="3854611" y="3481853"/>
            <a:ext cx="1917036" cy="553641"/>
          </a:xfrm>
          <a:prstGeom prst="rect">
            <a:avLst/>
          </a:prstGeom>
          <a:noFill/>
          <a:ln/>
        </p:spPr>
        <p:txBody>
          <a:bodyPr wrap="square" lIns="136017" tIns="102108" rIns="136017" bIns="102108" rtlCol="0" anchor="ctr">
            <a:spAutoFit/>
          </a:bodyPr>
          <a:lstStyle/>
          <a:p>
            <a:pPr algn="r" indent="0" marL="0">
              <a:buNone/>
            </a:pPr>
            <a:r>
              <a:rPr lang="en-US" sz="1250" dirty="0">
                <a:solidFill>
                  <a:srgbClr val="2D3748"/>
                </a:solidFill>
                <a:latin typeface="Cairo Light" pitchFamily="34" charset="0"/>
                <a:ea typeface="Cairo Light" pitchFamily="34" charset="-122"/>
                <a:cs typeface="Cairo Light" pitchFamily="34" charset="-120"/>
              </a:rPr>
              <a:t>مدينة السادات</a:t>
            </a:r>
            <a:endParaRPr lang="en-US" sz="1250" dirty="0"/>
          </a:p>
        </p:txBody>
      </p:sp>
      <p:sp>
        <p:nvSpPr>
          <p:cNvPr id="35" name="Text 29"/>
          <p:cNvSpPr/>
          <p:nvPr/>
        </p:nvSpPr>
        <p:spPr>
          <a:xfrm>
            <a:off x="3218817" y="3571149"/>
            <a:ext cx="521494" cy="375047"/>
          </a:xfrm>
          <a:prstGeom prst="rect">
            <a:avLst/>
          </a:prstGeom>
          <a:noFill/>
          <a:ln/>
        </p:spPr>
        <p:txBody>
          <a:bodyPr wrap="none" lIns="0" tIns="0" rIns="0" bIns="0" rtlCol="0" anchor="t">
            <a:spAutoFit/>
          </a:bodyPr>
          <a:lstStyle/>
          <a:p>
            <a:pPr algn="r" indent="0" marL="0">
              <a:buNone/>
            </a:pPr>
            <a:r>
              <a:rPr lang="en-US" sz="1400" b="1" dirty="0">
                <a:solidFill>
                  <a:srgbClr val="D69E2E"/>
                </a:solidFill>
                <a:latin typeface="Cairo ExtraBold" pitchFamily="34" charset="0"/>
                <a:ea typeface="Cairo ExtraBold" pitchFamily="34" charset="-122"/>
                <a:cs typeface="Cairo ExtraBold" pitchFamily="34" charset="-120"/>
              </a:rPr>
              <a:t>4.1/5</a:t>
            </a:r>
            <a:endParaRPr lang="en-US" sz="1400" dirty="0"/>
          </a:p>
        </p:txBody>
      </p:sp>
      <p:pic>
        <p:nvPicPr>
          <p:cNvPr id="36" name="Image 4" descr="preencoded.png">    </p:cNvPr>
          <p:cNvPicPr>
            <a:picLocks noChangeAspect="1"/>
          </p:cNvPicPr>
          <p:nvPr/>
        </p:nvPicPr>
        <p:blipFill>
          <a:blip r:embed="rId5"/>
          <a:stretch>
            <a:fillRect/>
          </a:stretch>
        </p:blipFill>
        <p:spPr>
          <a:xfrm>
            <a:off x="3072371" y="3721168"/>
            <a:ext cx="146447" cy="128588"/>
          </a:xfrm>
          <a:prstGeom prst="rect">
            <a:avLst/>
          </a:prstGeom>
        </p:spPr>
      </p:pic>
      <p:sp>
        <p:nvSpPr>
          <p:cNvPr id="37" name="Text 30"/>
          <p:cNvSpPr/>
          <p:nvPr/>
        </p:nvSpPr>
        <p:spPr>
          <a:xfrm>
            <a:off x="714375" y="3481853"/>
            <a:ext cx="1664271" cy="553641"/>
          </a:xfrm>
          <a:prstGeom prst="rect">
            <a:avLst/>
          </a:prstGeom>
          <a:noFill/>
          <a:ln/>
        </p:spPr>
        <p:txBody>
          <a:bodyPr wrap="square" lIns="136017" tIns="102108" rIns="136017" bIns="102108" rtlCol="0" anchor="ctr">
            <a:spAutoFit/>
          </a:bodyPr>
          <a:lstStyle/>
          <a:p>
            <a:pPr algn="r" indent="0" marL="0">
              <a:buNone/>
            </a:pPr>
            <a:r>
              <a:rPr lang="en-US" sz="1200" b="1" dirty="0">
                <a:solidFill>
                  <a:srgbClr val="2D3748"/>
                </a:solidFill>
                <a:latin typeface="Cairo ExtraBold" pitchFamily="34" charset="0"/>
                <a:ea typeface="Cairo ExtraBold" pitchFamily="34" charset="-122"/>
                <a:cs typeface="Cairo ExtraBold" pitchFamily="34" charset="-120"/>
              </a:rPr>
              <a:t>319</a:t>
            </a:r>
            <a:endParaRPr lang="en-US" sz="1200" dirty="0"/>
          </a:p>
        </p:txBody>
      </p:sp>
      <p:sp>
        <p:nvSpPr>
          <p:cNvPr id="38" name="Text 31"/>
          <p:cNvSpPr/>
          <p:nvPr/>
        </p:nvSpPr>
        <p:spPr>
          <a:xfrm>
            <a:off x="5771648" y="4035493"/>
            <a:ext cx="2657977" cy="553641"/>
          </a:xfrm>
          <a:prstGeom prst="rect">
            <a:avLst/>
          </a:prstGeom>
          <a:noFill/>
          <a:ln/>
        </p:spPr>
        <p:txBody>
          <a:bodyPr wrap="square" lIns="136017" tIns="102108" rIns="136017" bIns="102108" rtlCol="0" anchor="ctr">
            <a:spAutoFit/>
          </a:bodyPr>
          <a:lstStyle/>
          <a:p>
            <a:pPr algn="r" indent="0" marL="0">
              <a:buNone/>
            </a:pPr>
            <a:r>
              <a:rPr lang="en-US" sz="1250" dirty="0">
                <a:solidFill>
                  <a:srgbClr val="2D3748"/>
                </a:solidFill>
                <a:latin typeface="Cairo Light" pitchFamily="34" charset="0"/>
                <a:ea typeface="Cairo Light" pitchFamily="34" charset="-122"/>
                <a:cs typeface="Cairo Light" pitchFamily="34" charset="-120"/>
              </a:rPr>
              <a:t>اسكندراني</a:t>
            </a:r>
            <a:endParaRPr lang="en-US" sz="1250" dirty="0"/>
          </a:p>
        </p:txBody>
      </p:sp>
      <p:sp>
        <p:nvSpPr>
          <p:cNvPr id="39" name="Text 32"/>
          <p:cNvSpPr/>
          <p:nvPr/>
        </p:nvSpPr>
        <p:spPr>
          <a:xfrm>
            <a:off x="3854611" y="4035493"/>
            <a:ext cx="1917036" cy="553641"/>
          </a:xfrm>
          <a:prstGeom prst="rect">
            <a:avLst/>
          </a:prstGeom>
          <a:noFill/>
          <a:ln/>
        </p:spPr>
        <p:txBody>
          <a:bodyPr wrap="square" lIns="136017" tIns="102108" rIns="136017" bIns="102108" rtlCol="0" anchor="ctr">
            <a:spAutoFit/>
          </a:bodyPr>
          <a:lstStyle/>
          <a:p>
            <a:pPr algn="r" indent="0" marL="0">
              <a:buNone/>
            </a:pPr>
            <a:r>
              <a:rPr lang="en-US" sz="1250" dirty="0">
                <a:solidFill>
                  <a:srgbClr val="2D3748"/>
                </a:solidFill>
                <a:latin typeface="Cairo Light" pitchFamily="34" charset="0"/>
                <a:ea typeface="Cairo Light" pitchFamily="34" charset="-122"/>
                <a:cs typeface="Cairo Light" pitchFamily="34" charset="-120"/>
              </a:rPr>
              <a:t>مدينة السادات</a:t>
            </a:r>
            <a:endParaRPr lang="en-US" sz="1250" dirty="0"/>
          </a:p>
        </p:txBody>
      </p:sp>
      <p:sp>
        <p:nvSpPr>
          <p:cNvPr id="40" name="Text 33"/>
          <p:cNvSpPr/>
          <p:nvPr/>
        </p:nvSpPr>
        <p:spPr>
          <a:xfrm>
            <a:off x="3218817" y="4124790"/>
            <a:ext cx="521494" cy="375047"/>
          </a:xfrm>
          <a:prstGeom prst="rect">
            <a:avLst/>
          </a:prstGeom>
          <a:noFill/>
          <a:ln/>
        </p:spPr>
        <p:txBody>
          <a:bodyPr wrap="none" lIns="0" tIns="0" rIns="0" bIns="0" rtlCol="0" anchor="t">
            <a:spAutoFit/>
          </a:bodyPr>
          <a:lstStyle/>
          <a:p>
            <a:pPr algn="r" indent="0" marL="0">
              <a:buNone/>
            </a:pPr>
            <a:r>
              <a:rPr lang="en-US" sz="1400" b="1" dirty="0">
                <a:solidFill>
                  <a:srgbClr val="D69E2E"/>
                </a:solidFill>
                <a:latin typeface="Cairo ExtraBold" pitchFamily="34" charset="0"/>
                <a:ea typeface="Cairo ExtraBold" pitchFamily="34" charset="-122"/>
                <a:cs typeface="Cairo ExtraBold" pitchFamily="34" charset="-120"/>
              </a:rPr>
              <a:t>4.1/5</a:t>
            </a:r>
            <a:endParaRPr lang="en-US" sz="1400" dirty="0"/>
          </a:p>
        </p:txBody>
      </p:sp>
      <p:pic>
        <p:nvPicPr>
          <p:cNvPr id="41" name="Image 5" descr="preencoded.png">    </p:cNvPr>
          <p:cNvPicPr>
            <a:picLocks noChangeAspect="1"/>
          </p:cNvPicPr>
          <p:nvPr/>
        </p:nvPicPr>
        <p:blipFill>
          <a:blip r:embed="rId6"/>
          <a:stretch>
            <a:fillRect/>
          </a:stretch>
        </p:blipFill>
        <p:spPr>
          <a:xfrm>
            <a:off x="3072371" y="4274809"/>
            <a:ext cx="146447" cy="128588"/>
          </a:xfrm>
          <a:prstGeom prst="rect">
            <a:avLst/>
          </a:prstGeom>
        </p:spPr>
      </p:pic>
      <p:sp>
        <p:nvSpPr>
          <p:cNvPr id="42" name="Text 34"/>
          <p:cNvSpPr/>
          <p:nvPr/>
        </p:nvSpPr>
        <p:spPr>
          <a:xfrm>
            <a:off x="714375" y="4035493"/>
            <a:ext cx="1664271" cy="553641"/>
          </a:xfrm>
          <a:prstGeom prst="rect">
            <a:avLst/>
          </a:prstGeom>
          <a:noFill/>
          <a:ln/>
        </p:spPr>
        <p:txBody>
          <a:bodyPr wrap="square" lIns="136017" tIns="102108" rIns="136017" bIns="102108" rtlCol="0" anchor="ctr">
            <a:spAutoFit/>
          </a:bodyPr>
          <a:lstStyle/>
          <a:p>
            <a:pPr algn="r" indent="0" marL="0">
              <a:buNone/>
            </a:pPr>
            <a:r>
              <a:rPr lang="en-US" sz="1200" b="1" dirty="0">
                <a:solidFill>
                  <a:srgbClr val="2D3748"/>
                </a:solidFill>
                <a:latin typeface="Cairo ExtraBold" pitchFamily="34" charset="0"/>
                <a:ea typeface="Cairo ExtraBold" pitchFamily="34" charset="-122"/>
                <a:cs typeface="Cairo ExtraBold" pitchFamily="34" charset="-120"/>
              </a:rPr>
              <a:t>15</a:t>
            </a:r>
            <a:endParaRPr lang="en-US" sz="1200" dirty="0"/>
          </a:p>
        </p:txBody>
      </p:sp>
      <p:sp>
        <p:nvSpPr>
          <p:cNvPr id="43" name="Shape 35"/>
          <p:cNvSpPr/>
          <p:nvPr/>
        </p:nvSpPr>
        <p:spPr>
          <a:xfrm>
            <a:off x="714375" y="4735581"/>
            <a:ext cx="7715250" cy="335756"/>
          </a:xfrm>
          <a:prstGeom prst="rect">
            <a:avLst/>
          </a:prstGeom>
          <a:solidFill>
            <a:srgbClr val="000000">
              <a:alpha val="0"/>
            </a:srgbClr>
          </a:solidFill>
          <a:ln/>
        </p:spPr>
      </p:sp>
      <p:sp>
        <p:nvSpPr>
          <p:cNvPr id="44" name="Shape 36"/>
          <p:cNvSpPr/>
          <p:nvPr/>
        </p:nvSpPr>
        <p:spPr>
          <a:xfrm>
            <a:off x="714375" y="4735581"/>
            <a:ext cx="7715250" cy="7144"/>
          </a:xfrm>
          <a:prstGeom prst="rect">
            <a:avLst/>
          </a:prstGeom>
          <a:solidFill>
            <a:srgbClr val="E2E8F0"/>
          </a:solidFill>
          <a:ln/>
        </p:spPr>
      </p:sp>
      <p:sp>
        <p:nvSpPr>
          <p:cNvPr id="45" name="Text 37"/>
          <p:cNvSpPr/>
          <p:nvPr/>
        </p:nvSpPr>
        <p:spPr>
          <a:xfrm>
            <a:off x="714375" y="4735581"/>
            <a:ext cx="7715250" cy="335756"/>
          </a:xfrm>
          <a:prstGeom prst="rect">
            <a:avLst/>
          </a:prstGeom>
          <a:noFill/>
          <a:ln/>
        </p:spPr>
        <p:txBody>
          <a:bodyPr wrap="square" lIns="0" tIns="102108" rIns="0" bIns="0" rtlCol="0" anchor="t">
            <a:spAutoFit/>
          </a:bodyPr>
          <a:lstStyle/>
          <a:p>
            <a:pPr algn="l" indent="0" marL="0">
              <a:buNone/>
            </a:pPr>
            <a:r>
              <a:rPr lang="en-US" sz="950" dirty="0">
                <a:solidFill>
                  <a:srgbClr val="718096"/>
                </a:solidFill>
                <a:latin typeface="Cairo Light" pitchFamily="34" charset="0"/>
                <a:ea typeface="Cairo Light" pitchFamily="34" charset="-122"/>
                <a:cs typeface="Cairo Light" pitchFamily="34" charset="-120"/>
              </a:rPr>
              <a:t>المصدر: خرائط جوجل، مع مطابقة الاسم والموقع والرقم قدر الإمكان.</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602821"/>
          </a:xfrm>
          <a:prstGeom prst="rect">
            <a:avLst/>
          </a:prstGeom>
        </p:spPr>
      </p:pic>
      <p:sp>
        <p:nvSpPr>
          <p:cNvPr id="3" name="Text 0"/>
          <p:cNvSpPr/>
          <p:nvPr/>
        </p:nvSpPr>
        <p:spPr>
          <a:xfrm>
            <a:off x="4686300" y="742950"/>
            <a:ext cx="4171950" cy="891518"/>
          </a:xfrm>
          <a:prstGeom prst="rect">
            <a:avLst/>
          </a:prstGeom>
          <a:noFill/>
          <a:ln/>
        </p:spPr>
        <p:txBody>
          <a:bodyPr wrap="square" lIns="0" tIns="0" rIns="0" bIns="0" rtlCol="0" anchor="t">
            <a:spAutoFit/>
          </a:bodyPr>
          <a:lstStyle/>
          <a:p>
            <a:pPr algn="l" indent="0" marL="0">
              <a:lnSpc>
                <a:spcPct val="104000"/>
              </a:lnSpc>
              <a:buNone/>
            </a:pPr>
            <a:r>
              <a:rPr lang="en-US" sz="2450" b="1" dirty="0">
                <a:solidFill>
                  <a:srgbClr val="1A202C"/>
                </a:solidFill>
                <a:latin typeface="Cairo ExtraBold" pitchFamily="34" charset="0"/>
                <a:ea typeface="Cairo ExtraBold" pitchFamily="34" charset="-122"/>
                <a:cs typeface="Cairo ExtraBold" pitchFamily="34" charset="-120"/>
              </a:rPr>
              <a:t>ما الذي يحصل عليه المطعم؟</a:t>
            </a:r>
            <a:endParaRPr lang="en-US" sz="2450" dirty="0"/>
          </a:p>
        </p:txBody>
      </p:sp>
      <p:sp>
        <p:nvSpPr>
          <p:cNvPr id="4" name="Shape 1"/>
          <p:cNvSpPr/>
          <p:nvPr/>
        </p:nvSpPr>
        <p:spPr>
          <a:xfrm>
            <a:off x="6815138" y="1834493"/>
            <a:ext cx="2043113" cy="1017984"/>
          </a:xfrm>
          <a:prstGeom prst="rect">
            <a:avLst/>
          </a:prstGeom>
          <a:solidFill>
            <a:srgbClr val="E2E8F0"/>
          </a:solidFill>
          <a:ln/>
        </p:spPr>
      </p:sp>
      <p:sp>
        <p:nvSpPr>
          <p:cNvPr id="5" name="Shape 2"/>
          <p:cNvSpPr/>
          <p:nvPr/>
        </p:nvSpPr>
        <p:spPr>
          <a:xfrm>
            <a:off x="8829675" y="1834493"/>
            <a:ext cx="28575" cy="1017984"/>
          </a:xfrm>
          <a:prstGeom prst="rect">
            <a:avLst/>
          </a:prstGeom>
          <a:solidFill>
            <a:srgbClr val="D69E2E"/>
          </a:solidFill>
          <a:ln/>
        </p:spPr>
      </p:sp>
      <p:pic>
        <p:nvPicPr>
          <p:cNvPr id="6" name="Image 1" descr="preencoded.png">    </p:cNvPr>
          <p:cNvPicPr>
            <a:picLocks noChangeAspect="1"/>
          </p:cNvPicPr>
          <p:nvPr/>
        </p:nvPicPr>
        <p:blipFill>
          <a:blip r:embed="rId2"/>
          <a:stretch>
            <a:fillRect/>
          </a:stretch>
        </p:blipFill>
        <p:spPr>
          <a:xfrm>
            <a:off x="8622506" y="2005943"/>
            <a:ext cx="150019" cy="200025"/>
          </a:xfrm>
          <a:prstGeom prst="rect">
            <a:avLst/>
          </a:prstGeom>
        </p:spPr>
      </p:pic>
      <p:sp>
        <p:nvSpPr>
          <p:cNvPr id="7" name="Text 3"/>
          <p:cNvSpPr/>
          <p:nvPr/>
        </p:nvSpPr>
        <p:spPr>
          <a:xfrm>
            <a:off x="6900863" y="2366702"/>
            <a:ext cx="1871663" cy="400050"/>
          </a:xfrm>
          <a:prstGeom prst="rect">
            <a:avLst/>
          </a:prstGeom>
          <a:noFill/>
          <a:ln/>
        </p:spPr>
        <p:txBody>
          <a:bodyPr wrap="square" lIns="0" tIns="0" rIns="0" bIns="0" rtlCol="0" anchor="t">
            <a:spAutoFit/>
          </a:bodyPr>
          <a:lstStyle/>
          <a:p>
            <a:pPr algn="l" indent="0" marL="0">
              <a:lnSpc>
                <a:spcPct val="112000"/>
              </a:lnSpc>
              <a:buNone/>
            </a:pPr>
            <a:r>
              <a:rPr lang="en-US" sz="1050" dirty="0">
                <a:solidFill>
                  <a:srgbClr val="1A202C"/>
                </a:solidFill>
                <a:latin typeface="Cairo Light" pitchFamily="34" charset="0"/>
                <a:ea typeface="Cairo Light" pitchFamily="34" charset="-122"/>
                <a:cs typeface="Cairo Light" pitchFamily="34" charset="-120"/>
              </a:rPr>
              <a:t>صفحة عربية سريعة، مصممة أولاً للموبايل.</a:t>
            </a:r>
            <a:endParaRPr lang="en-US" sz="1050" dirty="0"/>
          </a:p>
        </p:txBody>
      </p:sp>
      <p:sp>
        <p:nvSpPr>
          <p:cNvPr id="8" name="Shape 4"/>
          <p:cNvSpPr/>
          <p:nvPr/>
        </p:nvSpPr>
        <p:spPr>
          <a:xfrm>
            <a:off x="4686300" y="1834493"/>
            <a:ext cx="2043113" cy="1017984"/>
          </a:xfrm>
          <a:prstGeom prst="rect">
            <a:avLst/>
          </a:prstGeom>
          <a:solidFill>
            <a:srgbClr val="E2E8F0"/>
          </a:solidFill>
          <a:ln/>
        </p:spPr>
      </p:sp>
      <p:sp>
        <p:nvSpPr>
          <p:cNvPr id="9" name="Shape 5"/>
          <p:cNvSpPr/>
          <p:nvPr/>
        </p:nvSpPr>
        <p:spPr>
          <a:xfrm>
            <a:off x="6700838" y="1834493"/>
            <a:ext cx="28575" cy="1017984"/>
          </a:xfrm>
          <a:prstGeom prst="rect">
            <a:avLst/>
          </a:prstGeom>
          <a:solidFill>
            <a:srgbClr val="D69E2E"/>
          </a:solidFill>
          <a:ln/>
        </p:spPr>
      </p:sp>
      <p:pic>
        <p:nvPicPr>
          <p:cNvPr id="10" name="Image 2" descr="preencoded.png">    </p:cNvPr>
          <p:cNvPicPr>
            <a:picLocks noChangeAspect="1"/>
          </p:cNvPicPr>
          <p:nvPr/>
        </p:nvPicPr>
        <p:blipFill>
          <a:blip r:embed="rId3"/>
          <a:stretch>
            <a:fillRect/>
          </a:stretch>
        </p:blipFill>
        <p:spPr>
          <a:xfrm>
            <a:off x="6443663" y="2005943"/>
            <a:ext cx="200025" cy="200025"/>
          </a:xfrm>
          <a:prstGeom prst="rect">
            <a:avLst/>
          </a:prstGeom>
        </p:spPr>
      </p:pic>
      <p:sp>
        <p:nvSpPr>
          <p:cNvPr id="11" name="Text 6"/>
          <p:cNvSpPr/>
          <p:nvPr/>
        </p:nvSpPr>
        <p:spPr>
          <a:xfrm>
            <a:off x="4772025" y="2366702"/>
            <a:ext cx="1871663" cy="400050"/>
          </a:xfrm>
          <a:prstGeom prst="rect">
            <a:avLst/>
          </a:prstGeom>
          <a:noFill/>
          <a:ln/>
        </p:spPr>
        <p:txBody>
          <a:bodyPr wrap="square" lIns="0" tIns="0" rIns="0" bIns="0" rtlCol="0" anchor="t">
            <a:spAutoFit/>
          </a:bodyPr>
          <a:lstStyle/>
          <a:p>
            <a:pPr algn="l" indent="0" marL="0">
              <a:lnSpc>
                <a:spcPct val="112000"/>
              </a:lnSpc>
              <a:buNone/>
            </a:pPr>
            <a:r>
              <a:rPr lang="en-US" sz="1050" dirty="0">
                <a:solidFill>
                  <a:srgbClr val="1A202C"/>
                </a:solidFill>
                <a:latin typeface="Cairo Light" pitchFamily="34" charset="0"/>
                <a:ea typeface="Cairo Light" pitchFamily="34" charset="-122"/>
                <a:cs typeface="Cairo Light" pitchFamily="34" charset="-120"/>
              </a:rPr>
              <a:t>صورة عرض رئيسية وعبارة واضحة مثل: «اطلب وجبتك الآن».</a:t>
            </a:r>
            <a:endParaRPr lang="en-US" sz="1050" dirty="0"/>
          </a:p>
        </p:txBody>
      </p:sp>
      <p:sp>
        <p:nvSpPr>
          <p:cNvPr id="12" name="Shape 7"/>
          <p:cNvSpPr/>
          <p:nvPr/>
        </p:nvSpPr>
        <p:spPr>
          <a:xfrm>
            <a:off x="6815138" y="2938202"/>
            <a:ext cx="2043113" cy="1218009"/>
          </a:xfrm>
          <a:prstGeom prst="rect">
            <a:avLst/>
          </a:prstGeom>
          <a:solidFill>
            <a:srgbClr val="E2E8F0"/>
          </a:solidFill>
          <a:ln/>
        </p:spPr>
      </p:sp>
      <p:sp>
        <p:nvSpPr>
          <p:cNvPr id="13" name="Shape 8"/>
          <p:cNvSpPr/>
          <p:nvPr/>
        </p:nvSpPr>
        <p:spPr>
          <a:xfrm>
            <a:off x="8829675" y="2938202"/>
            <a:ext cx="28575" cy="1218009"/>
          </a:xfrm>
          <a:prstGeom prst="rect">
            <a:avLst/>
          </a:prstGeom>
          <a:solidFill>
            <a:srgbClr val="D69E2E"/>
          </a:solidFill>
          <a:ln/>
        </p:spPr>
      </p:sp>
      <p:pic>
        <p:nvPicPr>
          <p:cNvPr id="14" name="Image 3" descr="preencoded.png">    </p:cNvPr>
          <p:cNvPicPr>
            <a:picLocks noChangeAspect="1"/>
          </p:cNvPicPr>
          <p:nvPr/>
        </p:nvPicPr>
        <p:blipFill>
          <a:blip r:embed="rId4"/>
          <a:stretch>
            <a:fillRect/>
          </a:stretch>
        </p:blipFill>
        <p:spPr>
          <a:xfrm>
            <a:off x="8572500" y="3109652"/>
            <a:ext cx="200025" cy="200025"/>
          </a:xfrm>
          <a:prstGeom prst="rect">
            <a:avLst/>
          </a:prstGeom>
        </p:spPr>
      </p:pic>
      <p:sp>
        <p:nvSpPr>
          <p:cNvPr id="15" name="Text 9"/>
          <p:cNvSpPr/>
          <p:nvPr/>
        </p:nvSpPr>
        <p:spPr>
          <a:xfrm>
            <a:off x="6900863" y="3470411"/>
            <a:ext cx="1871663" cy="400050"/>
          </a:xfrm>
          <a:prstGeom prst="rect">
            <a:avLst/>
          </a:prstGeom>
          <a:noFill/>
          <a:ln/>
        </p:spPr>
        <p:txBody>
          <a:bodyPr wrap="square" lIns="0" tIns="0" rIns="0" bIns="0" rtlCol="0" anchor="t">
            <a:spAutoFit/>
          </a:bodyPr>
          <a:lstStyle/>
          <a:p>
            <a:pPr algn="l" indent="0" marL="0">
              <a:lnSpc>
                <a:spcPct val="112000"/>
              </a:lnSpc>
              <a:buNone/>
            </a:pPr>
            <a:r>
              <a:rPr lang="en-US" sz="1050" dirty="0">
                <a:solidFill>
                  <a:srgbClr val="1A202C"/>
                </a:solidFill>
                <a:latin typeface="Cairo Light" pitchFamily="34" charset="0"/>
                <a:ea typeface="Cairo Light" pitchFamily="34" charset="-122"/>
                <a:cs typeface="Cairo Light" pitchFamily="34" charset="-120"/>
              </a:rPr>
              <a:t>منيو مقسمة: الأكثر طلباً، الوجبات، الساندوتشات، الإضافات والحلويات.</a:t>
            </a:r>
            <a:endParaRPr lang="en-US" sz="1050" dirty="0"/>
          </a:p>
        </p:txBody>
      </p:sp>
      <p:sp>
        <p:nvSpPr>
          <p:cNvPr id="16" name="Shape 10"/>
          <p:cNvSpPr/>
          <p:nvPr/>
        </p:nvSpPr>
        <p:spPr>
          <a:xfrm>
            <a:off x="4686300" y="2938202"/>
            <a:ext cx="2043113" cy="1017984"/>
          </a:xfrm>
          <a:prstGeom prst="rect">
            <a:avLst/>
          </a:prstGeom>
          <a:solidFill>
            <a:srgbClr val="E2E8F0"/>
          </a:solidFill>
          <a:ln/>
        </p:spPr>
      </p:sp>
      <p:sp>
        <p:nvSpPr>
          <p:cNvPr id="17" name="Shape 11"/>
          <p:cNvSpPr/>
          <p:nvPr/>
        </p:nvSpPr>
        <p:spPr>
          <a:xfrm>
            <a:off x="6700838" y="2938202"/>
            <a:ext cx="28575" cy="1017984"/>
          </a:xfrm>
          <a:prstGeom prst="rect">
            <a:avLst/>
          </a:prstGeom>
          <a:solidFill>
            <a:srgbClr val="D69E2E"/>
          </a:solidFill>
          <a:ln/>
        </p:spPr>
      </p:sp>
      <p:pic>
        <p:nvPicPr>
          <p:cNvPr id="18" name="Image 4" descr="preencoded.png">    </p:cNvPr>
          <p:cNvPicPr>
            <a:picLocks noChangeAspect="1"/>
          </p:cNvPicPr>
          <p:nvPr/>
        </p:nvPicPr>
        <p:blipFill>
          <a:blip r:embed="rId5"/>
          <a:stretch>
            <a:fillRect/>
          </a:stretch>
        </p:blipFill>
        <p:spPr>
          <a:xfrm>
            <a:off x="6468666" y="3109652"/>
            <a:ext cx="175022" cy="200025"/>
          </a:xfrm>
          <a:prstGeom prst="rect">
            <a:avLst/>
          </a:prstGeom>
        </p:spPr>
      </p:pic>
      <p:sp>
        <p:nvSpPr>
          <p:cNvPr id="19" name="Text 12"/>
          <p:cNvSpPr/>
          <p:nvPr/>
        </p:nvSpPr>
        <p:spPr>
          <a:xfrm>
            <a:off x="4772025" y="3470411"/>
            <a:ext cx="1871663" cy="400050"/>
          </a:xfrm>
          <a:prstGeom prst="rect">
            <a:avLst/>
          </a:prstGeom>
          <a:noFill/>
          <a:ln/>
        </p:spPr>
        <p:txBody>
          <a:bodyPr wrap="square" lIns="0" tIns="0" rIns="0" bIns="0" rtlCol="0" anchor="t">
            <a:spAutoFit/>
          </a:bodyPr>
          <a:lstStyle/>
          <a:p>
            <a:pPr algn="l" indent="0" marL="0">
              <a:lnSpc>
                <a:spcPct val="112000"/>
              </a:lnSpc>
              <a:buNone/>
            </a:pPr>
            <a:r>
              <a:rPr lang="en-US" sz="1050" dirty="0">
                <a:solidFill>
                  <a:srgbClr val="1A202C"/>
                </a:solidFill>
                <a:latin typeface="Cairo Light" pitchFamily="34" charset="0"/>
                <a:ea typeface="Cairo Light" pitchFamily="34" charset="-122"/>
                <a:cs typeface="Cairo Light" pitchFamily="34" charset="-120"/>
              </a:rPr>
              <a:t>زر واتساب برسالة طلب جاهزة، مع زر اتصال مباشر.</a:t>
            </a:r>
            <a:endParaRPr lang="en-US" sz="1050" dirty="0"/>
          </a:p>
        </p:txBody>
      </p:sp>
      <p:sp>
        <p:nvSpPr>
          <p:cNvPr id="20" name="Shape 13"/>
          <p:cNvSpPr/>
          <p:nvPr/>
        </p:nvSpPr>
        <p:spPr>
          <a:xfrm>
            <a:off x="6815138" y="4041911"/>
            <a:ext cx="2043113" cy="1218009"/>
          </a:xfrm>
          <a:prstGeom prst="rect">
            <a:avLst/>
          </a:prstGeom>
          <a:solidFill>
            <a:srgbClr val="E2E8F0"/>
          </a:solidFill>
          <a:ln/>
        </p:spPr>
      </p:sp>
      <p:sp>
        <p:nvSpPr>
          <p:cNvPr id="21" name="Shape 14"/>
          <p:cNvSpPr/>
          <p:nvPr/>
        </p:nvSpPr>
        <p:spPr>
          <a:xfrm>
            <a:off x="8829675" y="4041911"/>
            <a:ext cx="28575" cy="1218009"/>
          </a:xfrm>
          <a:prstGeom prst="rect">
            <a:avLst/>
          </a:prstGeom>
          <a:solidFill>
            <a:srgbClr val="D69E2E"/>
          </a:solidFill>
          <a:ln/>
        </p:spPr>
      </p:sp>
      <p:pic>
        <p:nvPicPr>
          <p:cNvPr id="22" name="Image 5" descr="preencoded.png">    </p:cNvPr>
          <p:cNvPicPr>
            <a:picLocks noChangeAspect="1"/>
          </p:cNvPicPr>
          <p:nvPr/>
        </p:nvPicPr>
        <p:blipFill>
          <a:blip r:embed="rId6"/>
          <a:stretch>
            <a:fillRect/>
          </a:stretch>
        </p:blipFill>
        <p:spPr>
          <a:xfrm>
            <a:off x="8547497" y="4213361"/>
            <a:ext cx="225028" cy="200025"/>
          </a:xfrm>
          <a:prstGeom prst="rect">
            <a:avLst/>
          </a:prstGeom>
        </p:spPr>
      </p:pic>
      <p:sp>
        <p:nvSpPr>
          <p:cNvPr id="23" name="Text 15"/>
          <p:cNvSpPr/>
          <p:nvPr/>
        </p:nvSpPr>
        <p:spPr>
          <a:xfrm>
            <a:off x="6900863" y="4574121"/>
            <a:ext cx="1871663" cy="400050"/>
          </a:xfrm>
          <a:prstGeom prst="rect">
            <a:avLst/>
          </a:prstGeom>
          <a:noFill/>
          <a:ln/>
        </p:spPr>
        <p:txBody>
          <a:bodyPr wrap="square" lIns="0" tIns="0" rIns="0" bIns="0" rtlCol="0" anchor="t">
            <a:spAutoFit/>
          </a:bodyPr>
          <a:lstStyle/>
          <a:p>
            <a:pPr algn="l" indent="0" marL="0">
              <a:lnSpc>
                <a:spcPct val="112000"/>
              </a:lnSpc>
              <a:buNone/>
            </a:pPr>
            <a:r>
              <a:rPr lang="en-US" sz="1050" dirty="0">
                <a:solidFill>
                  <a:srgbClr val="1A202C"/>
                </a:solidFill>
                <a:latin typeface="Cairo Light" pitchFamily="34" charset="0"/>
                <a:ea typeface="Cairo Light" pitchFamily="34" charset="-122"/>
                <a:cs typeface="Cairo Light" pitchFamily="34" charset="-120"/>
              </a:rPr>
              <a:t>مناطق التوصيل، ساعات العمل، الخريطة، وروابط التواصل.</a:t>
            </a:r>
            <a:endParaRPr lang="en-US" sz="1050" dirty="0"/>
          </a:p>
        </p:txBody>
      </p:sp>
      <p:sp>
        <p:nvSpPr>
          <p:cNvPr id="24" name="Shape 16"/>
          <p:cNvSpPr/>
          <p:nvPr/>
        </p:nvSpPr>
        <p:spPr>
          <a:xfrm>
            <a:off x="4686300" y="4041911"/>
            <a:ext cx="2043113" cy="1218009"/>
          </a:xfrm>
          <a:prstGeom prst="rect">
            <a:avLst/>
          </a:prstGeom>
          <a:solidFill>
            <a:srgbClr val="E2E8F0"/>
          </a:solidFill>
          <a:ln/>
        </p:spPr>
      </p:sp>
      <p:sp>
        <p:nvSpPr>
          <p:cNvPr id="25" name="Shape 17"/>
          <p:cNvSpPr/>
          <p:nvPr/>
        </p:nvSpPr>
        <p:spPr>
          <a:xfrm>
            <a:off x="6700838" y="4041911"/>
            <a:ext cx="28575" cy="1218009"/>
          </a:xfrm>
          <a:prstGeom prst="rect">
            <a:avLst/>
          </a:prstGeom>
          <a:solidFill>
            <a:srgbClr val="D69E2E"/>
          </a:solidFill>
          <a:ln/>
        </p:spPr>
      </p:sp>
      <p:pic>
        <p:nvPicPr>
          <p:cNvPr id="26" name="Image 6" descr="preencoded.png">    </p:cNvPr>
          <p:cNvPicPr>
            <a:picLocks noChangeAspect="1"/>
          </p:cNvPicPr>
          <p:nvPr/>
        </p:nvPicPr>
        <p:blipFill>
          <a:blip r:embed="rId7"/>
          <a:stretch>
            <a:fillRect/>
          </a:stretch>
        </p:blipFill>
        <p:spPr>
          <a:xfrm>
            <a:off x="6418659" y="4213361"/>
            <a:ext cx="225028" cy="200025"/>
          </a:xfrm>
          <a:prstGeom prst="rect">
            <a:avLst/>
          </a:prstGeom>
        </p:spPr>
      </p:pic>
      <p:sp>
        <p:nvSpPr>
          <p:cNvPr id="27" name="Text 18"/>
          <p:cNvSpPr/>
          <p:nvPr/>
        </p:nvSpPr>
        <p:spPr>
          <a:xfrm>
            <a:off x="4772025" y="4574121"/>
            <a:ext cx="1871663" cy="600075"/>
          </a:xfrm>
          <a:prstGeom prst="rect">
            <a:avLst/>
          </a:prstGeom>
          <a:noFill/>
          <a:ln/>
        </p:spPr>
        <p:txBody>
          <a:bodyPr wrap="square" lIns="0" tIns="0" rIns="0" bIns="0" rtlCol="0" anchor="t">
            <a:spAutoFit/>
          </a:bodyPr>
          <a:lstStyle/>
          <a:p>
            <a:pPr algn="l" indent="0" marL="0">
              <a:lnSpc>
                <a:spcPct val="112000"/>
              </a:lnSpc>
              <a:buNone/>
            </a:pPr>
            <a:r>
              <a:rPr lang="en-US" sz="1050" dirty="0">
                <a:solidFill>
                  <a:srgbClr val="1A202C"/>
                </a:solidFill>
                <a:latin typeface="Cairo Light" pitchFamily="34" charset="0"/>
                <a:ea typeface="Cairo Light" pitchFamily="34" charset="-122"/>
                <a:cs typeface="Cairo Light" pitchFamily="34" charset="-120"/>
              </a:rPr>
              <a:t>تقييمات العملاء والعروض الموسمية لبناء الثقة وزيادة قيمة الطلب.</a:t>
            </a:r>
            <a:endParaRPr lang="en-US" sz="1050" dirty="0"/>
          </a:p>
        </p:txBody>
      </p:sp>
      <p:sp>
        <p:nvSpPr>
          <p:cNvPr id="28" name="Shape 19"/>
          <p:cNvSpPr/>
          <p:nvPr/>
        </p:nvSpPr>
        <p:spPr>
          <a:xfrm>
            <a:off x="0" y="0"/>
            <a:ext cx="4114800" cy="5402796"/>
          </a:xfrm>
          <a:prstGeom prst="rect">
            <a:avLst/>
          </a:prstGeom>
          <a:solidFill>
            <a:srgbClr val="E2E8F0"/>
          </a:solidFill>
          <a:ln/>
        </p:spPr>
      </p:sp>
      <p:pic>
        <p:nvPicPr>
          <p:cNvPr id="29" name="Image 7" descr="preencoded.png">    </p:cNvPr>
          <p:cNvPicPr>
            <a:picLocks noChangeAspect="1"/>
          </p:cNvPicPr>
          <p:nvPr/>
        </p:nvPicPr>
        <p:blipFill>
          <a:blip r:embed="rId8"/>
          <a:stretch>
            <a:fillRect/>
          </a:stretch>
        </p:blipFill>
        <p:spPr>
          <a:xfrm>
            <a:off x="0" y="0"/>
            <a:ext cx="4114800" cy="540279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310653"/>
          </a:xfrm>
          <a:prstGeom prst="rect">
            <a:avLst/>
          </a:prstGeom>
        </p:spPr>
      </p:pic>
      <p:sp>
        <p:nvSpPr>
          <p:cNvPr id="3" name="Text 0"/>
          <p:cNvSpPr/>
          <p:nvPr/>
        </p:nvSpPr>
        <p:spPr>
          <a:xfrm>
            <a:off x="714375" y="742950"/>
            <a:ext cx="7715250" cy="445759"/>
          </a:xfrm>
          <a:prstGeom prst="rect">
            <a:avLst/>
          </a:prstGeom>
          <a:noFill/>
          <a:ln/>
        </p:spPr>
        <p:txBody>
          <a:bodyPr wrap="none" lIns="0" tIns="0" rIns="0" bIns="0" rtlCol="0" anchor="t">
            <a:spAutoFit/>
          </a:bodyPr>
          <a:lstStyle/>
          <a:p>
            <a:pPr algn="l" indent="0" marL="0">
              <a:lnSpc>
                <a:spcPct val="104000"/>
              </a:lnSpc>
              <a:buNone/>
            </a:pPr>
            <a:r>
              <a:rPr lang="en-US" sz="2450" b="1" dirty="0">
                <a:solidFill>
                  <a:srgbClr val="1A202C"/>
                </a:solidFill>
                <a:latin typeface="Cairo ExtraBold" pitchFamily="34" charset="0"/>
                <a:ea typeface="Cairo ExtraBold" pitchFamily="34" charset="-122"/>
                <a:cs typeface="Cairo ExtraBold" pitchFamily="34" charset="-120"/>
              </a:rPr>
              <a:t>مسار المبيعات المقترح</a:t>
            </a:r>
            <a:endParaRPr lang="en-US" sz="2450" dirty="0"/>
          </a:p>
        </p:txBody>
      </p:sp>
      <p:sp>
        <p:nvSpPr>
          <p:cNvPr id="4" name="Shape 1"/>
          <p:cNvSpPr/>
          <p:nvPr/>
        </p:nvSpPr>
        <p:spPr>
          <a:xfrm>
            <a:off x="7000875" y="1545896"/>
            <a:ext cx="1428750" cy="2389584"/>
          </a:xfrm>
          <a:prstGeom prst="rect">
            <a:avLst/>
          </a:prstGeom>
          <a:solidFill>
            <a:srgbClr val="E2E8F0"/>
          </a:solidFill>
          <a:ln/>
        </p:spPr>
      </p:sp>
      <p:sp>
        <p:nvSpPr>
          <p:cNvPr id="5" name="Shape 2"/>
          <p:cNvSpPr/>
          <p:nvPr/>
        </p:nvSpPr>
        <p:spPr>
          <a:xfrm>
            <a:off x="7000875" y="1545896"/>
            <a:ext cx="1428750" cy="57150"/>
          </a:xfrm>
          <a:prstGeom prst="rect">
            <a:avLst/>
          </a:prstGeom>
          <a:solidFill>
            <a:srgbClr val="D69E2E"/>
          </a:solidFill>
          <a:ln/>
        </p:spPr>
      </p:sp>
      <p:sp>
        <p:nvSpPr>
          <p:cNvPr id="6" name="Text 3"/>
          <p:cNvSpPr/>
          <p:nvPr/>
        </p:nvSpPr>
        <p:spPr>
          <a:xfrm>
            <a:off x="7143750" y="1760209"/>
            <a:ext cx="1143000" cy="457200"/>
          </a:xfrm>
          <a:prstGeom prst="rect">
            <a:avLst/>
          </a:prstGeom>
          <a:noFill/>
          <a:ln/>
        </p:spPr>
        <p:txBody>
          <a:bodyPr wrap="none" lIns="0" tIns="0" rIns="0" bIns="0" rtlCol="0" anchor="t">
            <a:spAutoFit/>
          </a:bodyPr>
          <a:lstStyle/>
          <a:p>
            <a:pPr algn="l" indent="0" marL="0">
              <a:lnSpc>
                <a:spcPct val="80000"/>
              </a:lnSpc>
              <a:buNone/>
            </a:pPr>
            <a:r>
              <a:rPr lang="en-US" sz="3300" b="1" dirty="0">
                <a:solidFill>
                  <a:srgbClr val="D69E2E"/>
                </a:solidFill>
                <a:latin typeface="Cairo ExtraBold" pitchFamily="34" charset="0"/>
                <a:ea typeface="Cairo ExtraBold" pitchFamily="34" charset="-122"/>
                <a:cs typeface="Cairo ExtraBold" pitchFamily="34" charset="-120"/>
              </a:rPr>
              <a:t>01</a:t>
            </a:r>
            <a:endParaRPr lang="en-US" sz="3300" dirty="0"/>
          </a:p>
        </p:txBody>
      </p:sp>
      <p:sp>
        <p:nvSpPr>
          <p:cNvPr id="7" name="Text 4"/>
          <p:cNvSpPr/>
          <p:nvPr/>
        </p:nvSpPr>
        <p:spPr>
          <a:xfrm>
            <a:off x="7143750" y="2324565"/>
            <a:ext cx="1143000" cy="375047"/>
          </a:xfrm>
          <a:prstGeom prst="rect">
            <a:avLst/>
          </a:prstGeom>
          <a:noFill/>
          <a:ln/>
        </p:spPr>
        <p:txBody>
          <a:bodyPr wrap="none" lIns="0" tIns="0" rIns="0" bIns="0" rtlCol="0" anchor="t">
            <a:spAutoFit/>
          </a:bodyPr>
          <a:lstStyle/>
          <a:p>
            <a:pPr algn="l" indent="0" marL="0">
              <a:buNone/>
            </a:pPr>
            <a:r>
              <a:rPr lang="en-US" sz="1400" b="1" dirty="0">
                <a:solidFill>
                  <a:srgbClr val="1A202C"/>
                </a:solidFill>
                <a:latin typeface="Cairo ExtraBold" pitchFamily="34" charset="0"/>
                <a:ea typeface="Cairo ExtraBold" pitchFamily="34" charset="-122"/>
                <a:cs typeface="Cairo ExtraBold" pitchFamily="34" charset="-120"/>
              </a:rPr>
              <a:t>اكتشاف</a:t>
            </a:r>
            <a:endParaRPr lang="en-US" sz="1400" dirty="0"/>
          </a:p>
        </p:txBody>
      </p:sp>
      <p:sp>
        <p:nvSpPr>
          <p:cNvPr id="8" name="Text 5"/>
          <p:cNvSpPr/>
          <p:nvPr/>
        </p:nvSpPr>
        <p:spPr>
          <a:xfrm>
            <a:off x="7143750" y="2806768"/>
            <a:ext cx="1143000" cy="642938"/>
          </a:xfrm>
          <a:prstGeom prst="rect">
            <a:avLst/>
          </a:prstGeom>
          <a:noFill/>
          <a:ln/>
        </p:spPr>
        <p:txBody>
          <a:bodyPr wrap="square" lIns="0" tIns="0" rIns="0" bIns="0" rtlCol="0" anchor="t">
            <a:spAutoFit/>
          </a:bodyPr>
          <a:lstStyle/>
          <a:p>
            <a:pPr algn="l" indent="0" marL="0">
              <a:lnSpc>
                <a:spcPct val="120000"/>
              </a:lnSpc>
              <a:buNone/>
            </a:pPr>
            <a:r>
              <a:rPr lang="en-US" sz="1050" dirty="0">
                <a:solidFill>
                  <a:srgbClr val="2D3748"/>
                </a:solidFill>
                <a:latin typeface="Cairo Light" pitchFamily="34" charset="0"/>
                <a:ea typeface="Cairo Light" pitchFamily="34" charset="-122"/>
                <a:cs typeface="Cairo Light" pitchFamily="34" charset="-120"/>
              </a:rPr>
              <a:t>بحث جوجل، خرائط جوجل، فيسبوك، أو إعلان محلي.</a:t>
            </a:r>
            <a:endParaRPr lang="en-US" sz="1050" dirty="0"/>
          </a:p>
        </p:txBody>
      </p:sp>
      <p:sp>
        <p:nvSpPr>
          <p:cNvPr id="9" name="Shape 6"/>
          <p:cNvSpPr/>
          <p:nvPr/>
        </p:nvSpPr>
        <p:spPr>
          <a:xfrm>
            <a:off x="5429250" y="1545896"/>
            <a:ext cx="1428750" cy="2389584"/>
          </a:xfrm>
          <a:prstGeom prst="rect">
            <a:avLst/>
          </a:prstGeom>
          <a:solidFill>
            <a:srgbClr val="E2E8F0"/>
          </a:solidFill>
          <a:ln/>
        </p:spPr>
      </p:sp>
      <p:sp>
        <p:nvSpPr>
          <p:cNvPr id="10" name="Shape 7"/>
          <p:cNvSpPr/>
          <p:nvPr/>
        </p:nvSpPr>
        <p:spPr>
          <a:xfrm>
            <a:off x="5429250" y="1545896"/>
            <a:ext cx="1428750" cy="57150"/>
          </a:xfrm>
          <a:prstGeom prst="rect">
            <a:avLst/>
          </a:prstGeom>
          <a:solidFill>
            <a:srgbClr val="D69E2E"/>
          </a:solidFill>
          <a:ln/>
        </p:spPr>
      </p:sp>
      <p:sp>
        <p:nvSpPr>
          <p:cNvPr id="11" name="Text 8"/>
          <p:cNvSpPr/>
          <p:nvPr/>
        </p:nvSpPr>
        <p:spPr>
          <a:xfrm>
            <a:off x="5572125" y="1760209"/>
            <a:ext cx="1143000" cy="457200"/>
          </a:xfrm>
          <a:prstGeom prst="rect">
            <a:avLst/>
          </a:prstGeom>
          <a:noFill/>
          <a:ln/>
        </p:spPr>
        <p:txBody>
          <a:bodyPr wrap="none" lIns="0" tIns="0" rIns="0" bIns="0" rtlCol="0" anchor="t">
            <a:spAutoFit/>
          </a:bodyPr>
          <a:lstStyle/>
          <a:p>
            <a:pPr algn="l" indent="0" marL="0">
              <a:lnSpc>
                <a:spcPct val="80000"/>
              </a:lnSpc>
              <a:buNone/>
            </a:pPr>
            <a:r>
              <a:rPr lang="en-US" sz="3300" b="1" dirty="0">
                <a:solidFill>
                  <a:srgbClr val="D69E2E"/>
                </a:solidFill>
                <a:latin typeface="Cairo ExtraBold" pitchFamily="34" charset="0"/>
                <a:ea typeface="Cairo ExtraBold" pitchFamily="34" charset="-122"/>
                <a:cs typeface="Cairo ExtraBold" pitchFamily="34" charset="-120"/>
              </a:rPr>
              <a:t>02</a:t>
            </a:r>
            <a:endParaRPr lang="en-US" sz="3300" dirty="0"/>
          </a:p>
        </p:txBody>
      </p:sp>
      <p:sp>
        <p:nvSpPr>
          <p:cNvPr id="12" name="Text 9"/>
          <p:cNvSpPr/>
          <p:nvPr/>
        </p:nvSpPr>
        <p:spPr>
          <a:xfrm>
            <a:off x="5572125" y="2324565"/>
            <a:ext cx="1143000" cy="375047"/>
          </a:xfrm>
          <a:prstGeom prst="rect">
            <a:avLst/>
          </a:prstGeom>
          <a:noFill/>
          <a:ln/>
        </p:spPr>
        <p:txBody>
          <a:bodyPr wrap="none" lIns="0" tIns="0" rIns="0" bIns="0" rtlCol="0" anchor="t">
            <a:spAutoFit/>
          </a:bodyPr>
          <a:lstStyle/>
          <a:p>
            <a:pPr algn="l" indent="0" marL="0">
              <a:buNone/>
            </a:pPr>
            <a:r>
              <a:rPr lang="en-US" sz="1400" b="1" dirty="0">
                <a:solidFill>
                  <a:srgbClr val="1A202C"/>
                </a:solidFill>
                <a:latin typeface="Cairo ExtraBold" pitchFamily="34" charset="0"/>
                <a:ea typeface="Cairo ExtraBold" pitchFamily="34" charset="-122"/>
                <a:cs typeface="Cairo ExtraBold" pitchFamily="34" charset="-120"/>
              </a:rPr>
              <a:t>وصول</a:t>
            </a:r>
            <a:endParaRPr lang="en-US" sz="1400" dirty="0"/>
          </a:p>
        </p:txBody>
      </p:sp>
      <p:sp>
        <p:nvSpPr>
          <p:cNvPr id="13" name="Text 10"/>
          <p:cNvSpPr/>
          <p:nvPr/>
        </p:nvSpPr>
        <p:spPr>
          <a:xfrm>
            <a:off x="5572125" y="2806768"/>
            <a:ext cx="1143000" cy="642938"/>
          </a:xfrm>
          <a:prstGeom prst="rect">
            <a:avLst/>
          </a:prstGeom>
          <a:noFill/>
          <a:ln/>
        </p:spPr>
        <p:txBody>
          <a:bodyPr wrap="square" lIns="0" tIns="0" rIns="0" bIns="0" rtlCol="0" anchor="t">
            <a:spAutoFit/>
          </a:bodyPr>
          <a:lstStyle/>
          <a:p>
            <a:pPr algn="l" indent="0" marL="0">
              <a:lnSpc>
                <a:spcPct val="120000"/>
              </a:lnSpc>
              <a:buNone/>
            </a:pPr>
            <a:r>
              <a:rPr lang="en-US" sz="1050" dirty="0">
                <a:solidFill>
                  <a:srgbClr val="2D3748"/>
                </a:solidFill>
                <a:latin typeface="Cairo Light" pitchFamily="34" charset="0"/>
                <a:ea typeface="Cairo Light" pitchFamily="34" charset="-122"/>
                <a:cs typeface="Cairo Light" pitchFamily="34" charset="-120"/>
              </a:rPr>
              <a:t>رابط واحد باسم المطعم يفتح صفحة الهبوط.</a:t>
            </a:r>
            <a:endParaRPr lang="en-US" sz="1050" dirty="0"/>
          </a:p>
        </p:txBody>
      </p:sp>
      <p:sp>
        <p:nvSpPr>
          <p:cNvPr id="14" name="Shape 11"/>
          <p:cNvSpPr/>
          <p:nvPr/>
        </p:nvSpPr>
        <p:spPr>
          <a:xfrm>
            <a:off x="3857625" y="1545896"/>
            <a:ext cx="1428750" cy="2389584"/>
          </a:xfrm>
          <a:prstGeom prst="rect">
            <a:avLst/>
          </a:prstGeom>
          <a:solidFill>
            <a:srgbClr val="E2E8F0"/>
          </a:solidFill>
          <a:ln/>
        </p:spPr>
      </p:sp>
      <p:sp>
        <p:nvSpPr>
          <p:cNvPr id="15" name="Shape 12"/>
          <p:cNvSpPr/>
          <p:nvPr/>
        </p:nvSpPr>
        <p:spPr>
          <a:xfrm>
            <a:off x="3857625" y="1545896"/>
            <a:ext cx="1428750" cy="57150"/>
          </a:xfrm>
          <a:prstGeom prst="rect">
            <a:avLst/>
          </a:prstGeom>
          <a:solidFill>
            <a:srgbClr val="D69E2E"/>
          </a:solidFill>
          <a:ln/>
        </p:spPr>
      </p:sp>
      <p:sp>
        <p:nvSpPr>
          <p:cNvPr id="16" name="Text 13"/>
          <p:cNvSpPr/>
          <p:nvPr/>
        </p:nvSpPr>
        <p:spPr>
          <a:xfrm>
            <a:off x="4000500" y="1760209"/>
            <a:ext cx="1143000" cy="457200"/>
          </a:xfrm>
          <a:prstGeom prst="rect">
            <a:avLst/>
          </a:prstGeom>
          <a:noFill/>
          <a:ln/>
        </p:spPr>
        <p:txBody>
          <a:bodyPr wrap="none" lIns="0" tIns="0" rIns="0" bIns="0" rtlCol="0" anchor="t">
            <a:spAutoFit/>
          </a:bodyPr>
          <a:lstStyle/>
          <a:p>
            <a:pPr algn="l" indent="0" marL="0">
              <a:lnSpc>
                <a:spcPct val="80000"/>
              </a:lnSpc>
              <a:buNone/>
            </a:pPr>
            <a:r>
              <a:rPr lang="en-US" sz="3300" b="1" dirty="0">
                <a:solidFill>
                  <a:srgbClr val="D69E2E"/>
                </a:solidFill>
                <a:latin typeface="Cairo ExtraBold" pitchFamily="34" charset="0"/>
                <a:ea typeface="Cairo ExtraBold" pitchFamily="34" charset="-122"/>
                <a:cs typeface="Cairo ExtraBold" pitchFamily="34" charset="-120"/>
              </a:rPr>
              <a:t>03</a:t>
            </a:r>
            <a:endParaRPr lang="en-US" sz="3300" dirty="0"/>
          </a:p>
        </p:txBody>
      </p:sp>
      <p:sp>
        <p:nvSpPr>
          <p:cNvPr id="17" name="Text 14"/>
          <p:cNvSpPr/>
          <p:nvPr/>
        </p:nvSpPr>
        <p:spPr>
          <a:xfrm>
            <a:off x="4000500" y="2324565"/>
            <a:ext cx="1143000" cy="375047"/>
          </a:xfrm>
          <a:prstGeom prst="rect">
            <a:avLst/>
          </a:prstGeom>
          <a:noFill/>
          <a:ln/>
        </p:spPr>
        <p:txBody>
          <a:bodyPr wrap="none" lIns="0" tIns="0" rIns="0" bIns="0" rtlCol="0" anchor="t">
            <a:spAutoFit/>
          </a:bodyPr>
          <a:lstStyle/>
          <a:p>
            <a:pPr algn="l" indent="0" marL="0">
              <a:buNone/>
            </a:pPr>
            <a:r>
              <a:rPr lang="en-US" sz="1400" b="1" dirty="0">
                <a:solidFill>
                  <a:srgbClr val="1A202C"/>
                </a:solidFill>
                <a:latin typeface="Cairo ExtraBold" pitchFamily="34" charset="0"/>
                <a:ea typeface="Cairo ExtraBold" pitchFamily="34" charset="-122"/>
                <a:cs typeface="Cairo ExtraBold" pitchFamily="34" charset="-120"/>
              </a:rPr>
              <a:t>إقناع</a:t>
            </a:r>
            <a:endParaRPr lang="en-US" sz="1400" dirty="0"/>
          </a:p>
        </p:txBody>
      </p:sp>
      <p:sp>
        <p:nvSpPr>
          <p:cNvPr id="18" name="Text 15"/>
          <p:cNvSpPr/>
          <p:nvPr/>
        </p:nvSpPr>
        <p:spPr>
          <a:xfrm>
            <a:off x="4000500" y="2806768"/>
            <a:ext cx="1143000" cy="642938"/>
          </a:xfrm>
          <a:prstGeom prst="rect">
            <a:avLst/>
          </a:prstGeom>
          <a:noFill/>
          <a:ln/>
        </p:spPr>
        <p:txBody>
          <a:bodyPr wrap="square" lIns="0" tIns="0" rIns="0" bIns="0" rtlCol="0" anchor="t">
            <a:spAutoFit/>
          </a:bodyPr>
          <a:lstStyle/>
          <a:p>
            <a:pPr algn="l" indent="0" marL="0">
              <a:lnSpc>
                <a:spcPct val="120000"/>
              </a:lnSpc>
              <a:buNone/>
            </a:pPr>
            <a:r>
              <a:rPr lang="en-US" sz="1050" dirty="0">
                <a:solidFill>
                  <a:srgbClr val="2D3748"/>
                </a:solidFill>
                <a:latin typeface="Cairo Light" pitchFamily="34" charset="0"/>
                <a:ea typeface="Cairo Light" pitchFamily="34" charset="-122"/>
                <a:cs typeface="Cairo Light" pitchFamily="34" charset="-120"/>
              </a:rPr>
              <a:t>أفضل المبيعات، الصور، التقييمات، والعرض المحدود.</a:t>
            </a:r>
            <a:endParaRPr lang="en-US" sz="1050" dirty="0"/>
          </a:p>
        </p:txBody>
      </p:sp>
      <p:sp>
        <p:nvSpPr>
          <p:cNvPr id="19" name="Shape 16"/>
          <p:cNvSpPr/>
          <p:nvPr/>
        </p:nvSpPr>
        <p:spPr>
          <a:xfrm>
            <a:off x="2286000" y="1545896"/>
            <a:ext cx="1428750" cy="2389584"/>
          </a:xfrm>
          <a:prstGeom prst="rect">
            <a:avLst/>
          </a:prstGeom>
          <a:solidFill>
            <a:srgbClr val="E2E8F0"/>
          </a:solidFill>
          <a:ln/>
        </p:spPr>
      </p:sp>
      <p:sp>
        <p:nvSpPr>
          <p:cNvPr id="20" name="Shape 17"/>
          <p:cNvSpPr/>
          <p:nvPr/>
        </p:nvSpPr>
        <p:spPr>
          <a:xfrm>
            <a:off x="2286000" y="1545896"/>
            <a:ext cx="1428750" cy="57150"/>
          </a:xfrm>
          <a:prstGeom prst="rect">
            <a:avLst/>
          </a:prstGeom>
          <a:solidFill>
            <a:srgbClr val="D69E2E"/>
          </a:solidFill>
          <a:ln/>
        </p:spPr>
      </p:sp>
      <p:sp>
        <p:nvSpPr>
          <p:cNvPr id="21" name="Text 18"/>
          <p:cNvSpPr/>
          <p:nvPr/>
        </p:nvSpPr>
        <p:spPr>
          <a:xfrm>
            <a:off x="2428875" y="1760209"/>
            <a:ext cx="1143000" cy="457200"/>
          </a:xfrm>
          <a:prstGeom prst="rect">
            <a:avLst/>
          </a:prstGeom>
          <a:noFill/>
          <a:ln/>
        </p:spPr>
        <p:txBody>
          <a:bodyPr wrap="none" lIns="0" tIns="0" rIns="0" bIns="0" rtlCol="0" anchor="t">
            <a:spAutoFit/>
          </a:bodyPr>
          <a:lstStyle/>
          <a:p>
            <a:pPr algn="l" indent="0" marL="0">
              <a:lnSpc>
                <a:spcPct val="80000"/>
              </a:lnSpc>
              <a:buNone/>
            </a:pPr>
            <a:r>
              <a:rPr lang="en-US" sz="3300" b="1" dirty="0">
                <a:solidFill>
                  <a:srgbClr val="D69E2E"/>
                </a:solidFill>
                <a:latin typeface="Cairo ExtraBold" pitchFamily="34" charset="0"/>
                <a:ea typeface="Cairo ExtraBold" pitchFamily="34" charset="-122"/>
                <a:cs typeface="Cairo ExtraBold" pitchFamily="34" charset="-120"/>
              </a:rPr>
              <a:t>04</a:t>
            </a:r>
            <a:endParaRPr lang="en-US" sz="3300" dirty="0"/>
          </a:p>
        </p:txBody>
      </p:sp>
      <p:sp>
        <p:nvSpPr>
          <p:cNvPr id="22" name="Text 19"/>
          <p:cNvSpPr/>
          <p:nvPr/>
        </p:nvSpPr>
        <p:spPr>
          <a:xfrm>
            <a:off x="2428875" y="2324565"/>
            <a:ext cx="1143000" cy="375047"/>
          </a:xfrm>
          <a:prstGeom prst="rect">
            <a:avLst/>
          </a:prstGeom>
          <a:noFill/>
          <a:ln/>
        </p:spPr>
        <p:txBody>
          <a:bodyPr wrap="none" lIns="0" tIns="0" rIns="0" bIns="0" rtlCol="0" anchor="t">
            <a:spAutoFit/>
          </a:bodyPr>
          <a:lstStyle/>
          <a:p>
            <a:pPr algn="l" indent="0" marL="0">
              <a:buNone/>
            </a:pPr>
            <a:r>
              <a:rPr lang="en-US" sz="1400" b="1" dirty="0">
                <a:solidFill>
                  <a:srgbClr val="1A202C"/>
                </a:solidFill>
                <a:latin typeface="Cairo ExtraBold" pitchFamily="34" charset="0"/>
                <a:ea typeface="Cairo ExtraBold" pitchFamily="34" charset="-122"/>
                <a:cs typeface="Cairo ExtraBold" pitchFamily="34" charset="-120"/>
              </a:rPr>
              <a:t>تحويل</a:t>
            </a:r>
            <a:endParaRPr lang="en-US" sz="1400" dirty="0"/>
          </a:p>
        </p:txBody>
      </p:sp>
      <p:sp>
        <p:nvSpPr>
          <p:cNvPr id="23" name="Text 20"/>
          <p:cNvSpPr/>
          <p:nvPr/>
        </p:nvSpPr>
        <p:spPr>
          <a:xfrm>
            <a:off x="2428875" y="2806768"/>
            <a:ext cx="1143000" cy="642938"/>
          </a:xfrm>
          <a:prstGeom prst="rect">
            <a:avLst/>
          </a:prstGeom>
          <a:noFill/>
          <a:ln/>
        </p:spPr>
        <p:txBody>
          <a:bodyPr wrap="square" lIns="0" tIns="0" rIns="0" bIns="0" rtlCol="0" anchor="t">
            <a:spAutoFit/>
          </a:bodyPr>
          <a:lstStyle/>
          <a:p>
            <a:pPr algn="l" indent="0" marL="0">
              <a:lnSpc>
                <a:spcPct val="120000"/>
              </a:lnSpc>
              <a:buNone/>
            </a:pPr>
            <a:r>
              <a:rPr lang="en-US" sz="1050" dirty="0">
                <a:solidFill>
                  <a:srgbClr val="2D3748"/>
                </a:solidFill>
                <a:latin typeface="Cairo Light" pitchFamily="34" charset="0"/>
                <a:ea typeface="Cairo Light" pitchFamily="34" charset="-122"/>
                <a:cs typeface="Cairo Light" pitchFamily="34" charset="-120"/>
              </a:rPr>
              <a:t>واتساب برسالة جاهزة أو اتصال مباشر.</a:t>
            </a:r>
            <a:endParaRPr lang="en-US" sz="1050" dirty="0"/>
          </a:p>
        </p:txBody>
      </p:sp>
      <p:sp>
        <p:nvSpPr>
          <p:cNvPr id="24" name="Shape 21"/>
          <p:cNvSpPr/>
          <p:nvPr/>
        </p:nvSpPr>
        <p:spPr>
          <a:xfrm>
            <a:off x="714375" y="1545896"/>
            <a:ext cx="1428750" cy="2389584"/>
          </a:xfrm>
          <a:prstGeom prst="rect">
            <a:avLst/>
          </a:prstGeom>
          <a:solidFill>
            <a:srgbClr val="E2E8F0"/>
          </a:solidFill>
          <a:ln/>
        </p:spPr>
      </p:sp>
      <p:sp>
        <p:nvSpPr>
          <p:cNvPr id="25" name="Shape 22"/>
          <p:cNvSpPr/>
          <p:nvPr/>
        </p:nvSpPr>
        <p:spPr>
          <a:xfrm>
            <a:off x="714375" y="1545896"/>
            <a:ext cx="1428750" cy="57150"/>
          </a:xfrm>
          <a:prstGeom prst="rect">
            <a:avLst/>
          </a:prstGeom>
          <a:solidFill>
            <a:srgbClr val="D69E2E"/>
          </a:solidFill>
          <a:ln/>
        </p:spPr>
      </p:sp>
      <p:sp>
        <p:nvSpPr>
          <p:cNvPr id="26" name="Text 23"/>
          <p:cNvSpPr/>
          <p:nvPr/>
        </p:nvSpPr>
        <p:spPr>
          <a:xfrm>
            <a:off x="857250" y="1760209"/>
            <a:ext cx="1143000" cy="457200"/>
          </a:xfrm>
          <a:prstGeom prst="rect">
            <a:avLst/>
          </a:prstGeom>
          <a:noFill/>
          <a:ln/>
        </p:spPr>
        <p:txBody>
          <a:bodyPr wrap="none" lIns="0" tIns="0" rIns="0" bIns="0" rtlCol="0" anchor="t">
            <a:spAutoFit/>
          </a:bodyPr>
          <a:lstStyle/>
          <a:p>
            <a:pPr algn="l" indent="0" marL="0">
              <a:lnSpc>
                <a:spcPct val="80000"/>
              </a:lnSpc>
              <a:buNone/>
            </a:pPr>
            <a:r>
              <a:rPr lang="en-US" sz="3300" b="1" dirty="0">
                <a:solidFill>
                  <a:srgbClr val="D69E2E"/>
                </a:solidFill>
                <a:latin typeface="Cairo ExtraBold" pitchFamily="34" charset="0"/>
                <a:ea typeface="Cairo ExtraBold" pitchFamily="34" charset="-122"/>
                <a:cs typeface="Cairo ExtraBold" pitchFamily="34" charset="-120"/>
              </a:rPr>
              <a:t>05</a:t>
            </a:r>
            <a:endParaRPr lang="en-US" sz="3300" dirty="0"/>
          </a:p>
        </p:txBody>
      </p:sp>
      <p:sp>
        <p:nvSpPr>
          <p:cNvPr id="27" name="Text 24"/>
          <p:cNvSpPr/>
          <p:nvPr/>
        </p:nvSpPr>
        <p:spPr>
          <a:xfrm>
            <a:off x="857250" y="2324565"/>
            <a:ext cx="1143000" cy="375047"/>
          </a:xfrm>
          <a:prstGeom prst="rect">
            <a:avLst/>
          </a:prstGeom>
          <a:noFill/>
          <a:ln/>
        </p:spPr>
        <p:txBody>
          <a:bodyPr wrap="none" lIns="0" tIns="0" rIns="0" bIns="0" rtlCol="0" anchor="t">
            <a:spAutoFit/>
          </a:bodyPr>
          <a:lstStyle/>
          <a:p>
            <a:pPr algn="l" indent="0" marL="0">
              <a:buNone/>
            </a:pPr>
            <a:r>
              <a:rPr lang="en-US" sz="1400" b="1" dirty="0">
                <a:solidFill>
                  <a:srgbClr val="1A202C"/>
                </a:solidFill>
                <a:latin typeface="Cairo ExtraBold" pitchFamily="34" charset="0"/>
                <a:ea typeface="Cairo ExtraBold" pitchFamily="34" charset="-122"/>
                <a:cs typeface="Cairo ExtraBold" pitchFamily="34" charset="-120"/>
              </a:rPr>
              <a:t>تكرار</a:t>
            </a:r>
            <a:endParaRPr lang="en-US" sz="1400" dirty="0"/>
          </a:p>
        </p:txBody>
      </p:sp>
      <p:sp>
        <p:nvSpPr>
          <p:cNvPr id="28" name="Text 25"/>
          <p:cNvSpPr/>
          <p:nvPr/>
        </p:nvSpPr>
        <p:spPr>
          <a:xfrm>
            <a:off x="857250" y="2806768"/>
            <a:ext cx="1143000" cy="857250"/>
          </a:xfrm>
          <a:prstGeom prst="rect">
            <a:avLst/>
          </a:prstGeom>
          <a:noFill/>
          <a:ln/>
        </p:spPr>
        <p:txBody>
          <a:bodyPr wrap="square" lIns="0" tIns="0" rIns="0" bIns="0" rtlCol="0" anchor="t">
            <a:spAutoFit/>
          </a:bodyPr>
          <a:lstStyle/>
          <a:p>
            <a:pPr algn="l" indent="0" marL="0">
              <a:lnSpc>
                <a:spcPct val="120000"/>
              </a:lnSpc>
              <a:buNone/>
            </a:pPr>
            <a:r>
              <a:rPr lang="en-US" sz="1050" dirty="0">
                <a:solidFill>
                  <a:srgbClr val="2D3748"/>
                </a:solidFill>
                <a:latin typeface="Cairo Light" pitchFamily="34" charset="0"/>
                <a:ea typeface="Cairo Light" pitchFamily="34" charset="-122"/>
                <a:cs typeface="Cairo Light" pitchFamily="34" charset="-120"/>
              </a:rPr>
              <a:t>كود خصم، حفظ الرابط، وإعادة استهداف العملاء بالعروض.</a:t>
            </a:r>
            <a:endParaRPr lang="en-US" sz="1050" dirty="0"/>
          </a:p>
        </p:txBody>
      </p:sp>
      <p:sp>
        <p:nvSpPr>
          <p:cNvPr id="29" name="Shape 26"/>
          <p:cNvSpPr/>
          <p:nvPr/>
        </p:nvSpPr>
        <p:spPr>
          <a:xfrm>
            <a:off x="714375" y="3878331"/>
            <a:ext cx="7715250" cy="803672"/>
          </a:xfrm>
          <a:prstGeom prst="rect">
            <a:avLst/>
          </a:prstGeom>
          <a:solidFill>
            <a:srgbClr val="1A202C"/>
          </a:solidFill>
          <a:ln/>
        </p:spPr>
      </p:sp>
      <p:sp>
        <p:nvSpPr>
          <p:cNvPr id="30" name="Shape 27"/>
          <p:cNvSpPr/>
          <p:nvPr/>
        </p:nvSpPr>
        <p:spPr>
          <a:xfrm>
            <a:off x="8372475" y="3878331"/>
            <a:ext cx="57150" cy="803672"/>
          </a:xfrm>
          <a:prstGeom prst="rect">
            <a:avLst/>
          </a:prstGeom>
          <a:solidFill>
            <a:srgbClr val="D69E2E"/>
          </a:solidFill>
          <a:ln/>
        </p:spPr>
      </p:sp>
      <p:pic>
        <p:nvPicPr>
          <p:cNvPr id="31" name="Image 1" descr="preencoded.png">    </p:cNvPr>
          <p:cNvPicPr>
            <a:picLocks noChangeAspect="1"/>
          </p:cNvPicPr>
          <p:nvPr/>
        </p:nvPicPr>
        <p:blipFill>
          <a:blip r:embed="rId2"/>
          <a:stretch>
            <a:fillRect/>
          </a:stretch>
        </p:blipFill>
        <p:spPr>
          <a:xfrm>
            <a:off x="7972425" y="4165867"/>
            <a:ext cx="171450" cy="228600"/>
          </a:xfrm>
          <a:prstGeom prst="rect">
            <a:avLst/>
          </a:prstGeom>
        </p:spPr>
      </p:pic>
      <p:sp>
        <p:nvSpPr>
          <p:cNvPr id="32" name="Text 28"/>
          <p:cNvSpPr/>
          <p:nvPr/>
        </p:nvSpPr>
        <p:spPr>
          <a:xfrm>
            <a:off x="3486150" y="4092643"/>
            <a:ext cx="4343400" cy="375047"/>
          </a:xfrm>
          <a:prstGeom prst="rect">
            <a:avLst/>
          </a:prstGeom>
          <a:noFill/>
          <a:ln/>
        </p:spPr>
        <p:txBody>
          <a:bodyPr wrap="square" lIns="0" tIns="0" rIns="0" bIns="0" rtlCol="0" anchor="t">
            <a:spAutoFit/>
          </a:bodyPr>
          <a:lstStyle/>
          <a:p>
            <a:pPr algn="l" indent="0" marL="0">
              <a:buNone/>
            </a:pPr>
            <a:r>
              <a:rPr lang="en-US" sz="1500" dirty="0">
                <a:solidFill>
                  <a:srgbClr val="F7FAFC"/>
                </a:solidFill>
                <a:latin typeface="Cairo Light" pitchFamily="34" charset="0"/>
                <a:ea typeface="Cairo Light" pitchFamily="34" charset="-122"/>
                <a:cs typeface="Cairo Light" pitchFamily="34" charset="-120"/>
              </a:rPr>
              <a:t>كل خطوة تقلل الاحتكاك بين رغبة العميل والطلب الفعلي.</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424841"/>
          </a:xfrm>
          <a:prstGeom prst="rect">
            <a:avLst/>
          </a:prstGeom>
        </p:spPr>
      </p:pic>
      <p:sp>
        <p:nvSpPr>
          <p:cNvPr id="3" name="Text 0"/>
          <p:cNvSpPr/>
          <p:nvPr/>
        </p:nvSpPr>
        <p:spPr>
          <a:xfrm>
            <a:off x="714375" y="742950"/>
            <a:ext cx="7715250" cy="445759"/>
          </a:xfrm>
          <a:prstGeom prst="rect">
            <a:avLst/>
          </a:prstGeom>
          <a:noFill/>
          <a:ln/>
        </p:spPr>
        <p:txBody>
          <a:bodyPr wrap="none" lIns="0" tIns="0" rIns="0" bIns="0" rtlCol="0" anchor="t">
            <a:spAutoFit/>
          </a:bodyPr>
          <a:lstStyle/>
          <a:p>
            <a:pPr algn="l" indent="0" marL="0">
              <a:lnSpc>
                <a:spcPct val="104000"/>
              </a:lnSpc>
              <a:buNone/>
            </a:pPr>
            <a:r>
              <a:rPr lang="en-US" sz="2450" b="1" dirty="0">
                <a:solidFill>
                  <a:srgbClr val="1A202C"/>
                </a:solidFill>
                <a:latin typeface="Cairo ExtraBold" pitchFamily="34" charset="0"/>
                <a:ea typeface="Cairo ExtraBold" pitchFamily="34" charset="-122"/>
                <a:cs typeface="Cairo ExtraBold" pitchFamily="34" charset="-120"/>
              </a:rPr>
              <a:t>رسالة واتساب جاهزة لفتح الحوار</a:t>
            </a:r>
            <a:endParaRPr lang="en-US" sz="2450" dirty="0"/>
          </a:p>
        </p:txBody>
      </p:sp>
      <p:sp>
        <p:nvSpPr>
          <p:cNvPr id="4" name="Shape 1"/>
          <p:cNvSpPr/>
          <p:nvPr/>
        </p:nvSpPr>
        <p:spPr>
          <a:xfrm>
            <a:off x="714375" y="1331584"/>
            <a:ext cx="7715250" cy="1885838"/>
          </a:xfrm>
          <a:prstGeom prst="rect">
            <a:avLst/>
          </a:prstGeom>
          <a:solidFill>
            <a:srgbClr val="E2E8F0"/>
          </a:solidFill>
          <a:ln/>
        </p:spPr>
      </p:sp>
      <p:sp>
        <p:nvSpPr>
          <p:cNvPr id="5" name="Shape 2"/>
          <p:cNvSpPr/>
          <p:nvPr/>
        </p:nvSpPr>
        <p:spPr>
          <a:xfrm>
            <a:off x="8372475" y="1331584"/>
            <a:ext cx="57150" cy="1885838"/>
          </a:xfrm>
          <a:prstGeom prst="rect">
            <a:avLst/>
          </a:prstGeom>
          <a:solidFill>
            <a:srgbClr val="D69E2E"/>
          </a:solidFill>
          <a:ln/>
        </p:spPr>
      </p:sp>
      <p:pic>
        <p:nvPicPr>
          <p:cNvPr id="6" name="Image 1" descr="preencoded.png">    </p:cNvPr>
          <p:cNvPicPr>
            <a:picLocks noChangeAspect="1"/>
          </p:cNvPicPr>
          <p:nvPr/>
        </p:nvPicPr>
        <p:blipFill>
          <a:blip r:embed="rId2">
            <a:alphaModFix amt="30000"/>
          </a:blip>
          <a:stretch>
            <a:fillRect/>
          </a:stretch>
        </p:blipFill>
        <p:spPr>
          <a:xfrm>
            <a:off x="1000125" y="1474459"/>
            <a:ext cx="375047" cy="428625"/>
          </a:xfrm>
          <a:prstGeom prst="rect">
            <a:avLst/>
          </a:prstGeom>
        </p:spPr>
      </p:pic>
      <p:sp>
        <p:nvSpPr>
          <p:cNvPr id="7" name="Text 3"/>
          <p:cNvSpPr/>
          <p:nvPr/>
        </p:nvSpPr>
        <p:spPr>
          <a:xfrm>
            <a:off x="1714500" y="1474459"/>
            <a:ext cx="6429375" cy="1600088"/>
          </a:xfrm>
          <a:prstGeom prst="rect">
            <a:avLst/>
          </a:prstGeom>
          <a:noFill/>
          <a:ln/>
        </p:spPr>
        <p:txBody>
          <a:bodyPr wrap="square" lIns="0" tIns="0" rIns="0" bIns="0" rtlCol="0" anchor="t">
            <a:spAutoFit/>
          </a:bodyPr>
          <a:lstStyle/>
          <a:p>
            <a:pPr algn="l" indent="0" marL="0">
              <a:lnSpc>
                <a:spcPct val="128000"/>
              </a:lnSpc>
              <a:buNone/>
            </a:pPr>
            <a:r>
              <a:rPr lang="en-US" sz="1400" b="1" dirty="0">
                <a:solidFill>
                  <a:srgbClr val="1A202C"/>
                </a:solidFill>
                <a:latin typeface="Cairo ExtraBold" pitchFamily="34" charset="0"/>
                <a:ea typeface="Cairo ExtraBold" pitchFamily="34" charset="-122"/>
                <a:cs typeface="Cairo ExtraBold" pitchFamily="34" charset="-120"/>
              </a:rPr>
              <a:t>«أهلاً أستاذ/ة …، لاحظت أن مطعمكم عنده تقييمات ومراجعات جيدة، لكن العميل الذي يبحث عنكم لا يجد صفحة منيو وطلب مباشرة باسم المطعم. أقدر أجهز لكم صفحة عربية سريعة فيها المنيو، زر واتساب، الموقع والعروض، وتربطها بخرائط جوجل وفيسبوك. عملت تصوراً مبدئياً للشكل؛ هل أرسله لحضرتك؟»</a:t>
            </a:r>
            <a:endParaRPr lang="en-US" sz="1400" dirty="0"/>
          </a:p>
        </p:txBody>
      </p:sp>
      <p:pic>
        <p:nvPicPr>
          <p:cNvPr id="8" name="Image 2" descr="preencoded.png">    </p:cNvPr>
          <p:cNvPicPr>
            <a:picLocks noChangeAspect="1"/>
          </p:cNvPicPr>
          <p:nvPr/>
        </p:nvPicPr>
        <p:blipFill>
          <a:blip r:embed="rId3"/>
          <a:stretch>
            <a:fillRect/>
          </a:stretch>
        </p:blipFill>
        <p:spPr>
          <a:xfrm>
            <a:off x="8229600" y="3474597"/>
            <a:ext cx="200025" cy="200025"/>
          </a:xfrm>
          <a:prstGeom prst="rect">
            <a:avLst/>
          </a:prstGeom>
        </p:spPr>
      </p:pic>
      <p:sp>
        <p:nvSpPr>
          <p:cNvPr id="9" name="Text 4"/>
          <p:cNvSpPr/>
          <p:nvPr/>
        </p:nvSpPr>
        <p:spPr>
          <a:xfrm>
            <a:off x="6215063" y="3360297"/>
            <a:ext cx="1907381" cy="428625"/>
          </a:xfrm>
          <a:prstGeom prst="rect">
            <a:avLst/>
          </a:prstGeom>
          <a:noFill/>
          <a:ln/>
        </p:spPr>
        <p:txBody>
          <a:bodyPr wrap="square" lIns="0" tIns="0" rIns="0" bIns="0" rtlCol="0" anchor="t">
            <a:spAutoFit/>
          </a:bodyPr>
          <a:lstStyle/>
          <a:p>
            <a:pPr algn="l" indent="0" marL="0">
              <a:buNone/>
            </a:pPr>
            <a:r>
              <a:rPr lang="en-US" sz="1600" b="1" dirty="0">
                <a:solidFill>
                  <a:srgbClr val="1A202C"/>
                </a:solidFill>
                <a:latin typeface="Cairo ExtraBold" pitchFamily="34" charset="0"/>
                <a:ea typeface="Cairo ExtraBold" pitchFamily="34" charset="-122"/>
                <a:cs typeface="Cairo ExtraBold" pitchFamily="34" charset="-120"/>
              </a:rPr>
              <a:t>عند الرد بالموافقة:</a:t>
            </a:r>
            <a:endParaRPr lang="en-US" sz="1600" dirty="0"/>
          </a:p>
        </p:txBody>
      </p:sp>
      <p:pic>
        <p:nvPicPr>
          <p:cNvPr id="10" name="Image 3" descr="preencoded.png">    </p:cNvPr>
          <p:cNvPicPr>
            <a:picLocks noChangeAspect="1"/>
          </p:cNvPicPr>
          <p:nvPr/>
        </p:nvPicPr>
        <p:blipFill>
          <a:blip r:embed="rId4"/>
          <a:stretch>
            <a:fillRect/>
          </a:stretch>
        </p:blipFill>
        <p:spPr>
          <a:xfrm>
            <a:off x="8279606" y="4006807"/>
            <a:ext cx="150019" cy="171450"/>
          </a:xfrm>
          <a:prstGeom prst="rect">
            <a:avLst/>
          </a:prstGeom>
        </p:spPr>
      </p:pic>
      <p:sp>
        <p:nvSpPr>
          <p:cNvPr id="11" name="Text 5"/>
          <p:cNvSpPr/>
          <p:nvPr/>
        </p:nvSpPr>
        <p:spPr>
          <a:xfrm>
            <a:off x="3861197" y="3896078"/>
            <a:ext cx="4304109" cy="260021"/>
          </a:xfrm>
          <a:prstGeom prst="rect">
            <a:avLst/>
          </a:prstGeom>
          <a:noFill/>
          <a:ln/>
        </p:spPr>
        <p:txBody>
          <a:bodyPr wrap="none" lIns="0" tIns="0" rIns="0" bIns="0" rtlCol="0" anchor="t">
            <a:spAutoFit/>
          </a:bodyPr>
          <a:lstStyle/>
          <a:p>
            <a:pPr algn="r" indent="0" marL="0">
              <a:lnSpc>
                <a:spcPct val="112000"/>
              </a:lnSpc>
              <a:buNone/>
            </a:pPr>
            <a:r>
              <a:rPr lang="en-US" sz="1400" dirty="0">
                <a:solidFill>
                  <a:srgbClr val="2D3748"/>
                </a:solidFill>
                <a:latin typeface="Cairo Light" pitchFamily="34" charset="0"/>
                <a:ea typeface="Cairo Light" pitchFamily="34" charset="-122"/>
                <a:cs typeface="Cairo Light" pitchFamily="34" charset="-120"/>
              </a:rPr>
              <a:t>أرسل نموذجاً بصرياً عاماً، وليس صفحة منشورة باسم المطعم.</a:t>
            </a:r>
            <a:endParaRPr lang="en-US" sz="1400" dirty="0"/>
          </a:p>
        </p:txBody>
      </p:sp>
      <p:pic>
        <p:nvPicPr>
          <p:cNvPr id="12" name="Image 4" descr="preencoded.png">    </p:cNvPr>
          <p:cNvPicPr>
            <a:picLocks noChangeAspect="1"/>
          </p:cNvPicPr>
          <p:nvPr/>
        </p:nvPicPr>
        <p:blipFill>
          <a:blip r:embed="rId5"/>
          <a:stretch>
            <a:fillRect/>
          </a:stretch>
        </p:blipFill>
        <p:spPr>
          <a:xfrm>
            <a:off x="8279606" y="4449719"/>
            <a:ext cx="150019" cy="171450"/>
          </a:xfrm>
          <a:prstGeom prst="rect">
            <a:avLst/>
          </a:prstGeom>
        </p:spPr>
      </p:pic>
      <p:sp>
        <p:nvSpPr>
          <p:cNvPr id="13" name="Text 6"/>
          <p:cNvSpPr/>
          <p:nvPr/>
        </p:nvSpPr>
        <p:spPr>
          <a:xfrm>
            <a:off x="3389709" y="4338991"/>
            <a:ext cx="4775597" cy="260021"/>
          </a:xfrm>
          <a:prstGeom prst="rect">
            <a:avLst/>
          </a:prstGeom>
          <a:noFill/>
          <a:ln/>
        </p:spPr>
        <p:txBody>
          <a:bodyPr wrap="none" lIns="0" tIns="0" rIns="0" bIns="0" rtlCol="0" anchor="t">
            <a:spAutoFit/>
          </a:bodyPr>
          <a:lstStyle/>
          <a:p>
            <a:pPr algn="r" indent="0" marL="0">
              <a:lnSpc>
                <a:spcPct val="112000"/>
              </a:lnSpc>
              <a:buNone/>
            </a:pPr>
            <a:r>
              <a:rPr lang="en-US" sz="1400" dirty="0">
                <a:solidFill>
                  <a:srgbClr val="2D3748"/>
                </a:solidFill>
                <a:latin typeface="Cairo Light" pitchFamily="34" charset="0"/>
                <a:ea typeface="Cairo Light" pitchFamily="34" charset="-122"/>
                <a:cs typeface="Cairo Light" pitchFamily="34" charset="-120"/>
              </a:rPr>
              <a:t>اطلب الشعار، المنيو، 12–20 صورة، مناطق التوصيل، وساعات العمل.</a:t>
            </a:r>
            <a:endParaRPr lang="en-US" sz="1400" dirty="0"/>
          </a:p>
        </p:txBody>
      </p:sp>
      <p:pic>
        <p:nvPicPr>
          <p:cNvPr id="14" name="Image 5" descr="preencoded.png">    </p:cNvPr>
          <p:cNvPicPr>
            <a:picLocks noChangeAspect="1"/>
          </p:cNvPicPr>
          <p:nvPr/>
        </p:nvPicPr>
        <p:blipFill>
          <a:blip r:embed="rId6"/>
          <a:stretch>
            <a:fillRect/>
          </a:stretch>
        </p:blipFill>
        <p:spPr>
          <a:xfrm>
            <a:off x="8279606" y="4892632"/>
            <a:ext cx="150019" cy="171450"/>
          </a:xfrm>
          <a:prstGeom prst="rect">
            <a:avLst/>
          </a:prstGeom>
        </p:spPr>
      </p:pic>
      <p:sp>
        <p:nvSpPr>
          <p:cNvPr id="15" name="Text 7"/>
          <p:cNvSpPr/>
          <p:nvPr/>
        </p:nvSpPr>
        <p:spPr>
          <a:xfrm>
            <a:off x="3682603" y="4781903"/>
            <a:ext cx="4482703" cy="260021"/>
          </a:xfrm>
          <a:prstGeom prst="rect">
            <a:avLst/>
          </a:prstGeom>
          <a:noFill/>
          <a:ln/>
        </p:spPr>
        <p:txBody>
          <a:bodyPr wrap="none" lIns="0" tIns="0" rIns="0" bIns="0" rtlCol="0" anchor="t">
            <a:spAutoFit/>
          </a:bodyPr>
          <a:lstStyle/>
          <a:p>
            <a:pPr algn="r" indent="0" marL="0">
              <a:lnSpc>
                <a:spcPct val="112000"/>
              </a:lnSpc>
              <a:buNone/>
            </a:pPr>
            <a:r>
              <a:rPr lang="en-US" sz="1400" dirty="0">
                <a:solidFill>
                  <a:srgbClr val="2D3748"/>
                </a:solidFill>
                <a:latin typeface="Cairo Light" pitchFamily="34" charset="0"/>
                <a:ea typeface="Cairo Light" pitchFamily="34" charset="-122"/>
                <a:cs typeface="Cairo Light" pitchFamily="34" charset="-120"/>
              </a:rPr>
              <a:t>اتفق كتابياً على النطاق، التعديلات، الاستضافة، وتحديثات الأسعار.</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942874"/>
          </a:xfrm>
          <a:prstGeom prst="rect">
            <a:avLst/>
          </a:prstGeom>
        </p:spPr>
      </p:pic>
      <p:sp>
        <p:nvSpPr>
          <p:cNvPr id="3" name="Text 0"/>
          <p:cNvSpPr/>
          <p:nvPr/>
        </p:nvSpPr>
        <p:spPr>
          <a:xfrm>
            <a:off x="3743325" y="742950"/>
            <a:ext cx="4972050" cy="445759"/>
          </a:xfrm>
          <a:prstGeom prst="rect">
            <a:avLst/>
          </a:prstGeom>
          <a:noFill/>
          <a:ln/>
        </p:spPr>
        <p:txBody>
          <a:bodyPr wrap="none" lIns="0" tIns="0" rIns="0" bIns="0" rtlCol="0" anchor="t">
            <a:spAutoFit/>
          </a:bodyPr>
          <a:lstStyle/>
          <a:p>
            <a:pPr algn="l" indent="0" marL="0">
              <a:lnSpc>
                <a:spcPct val="104000"/>
              </a:lnSpc>
              <a:buNone/>
            </a:pPr>
            <a:r>
              <a:rPr lang="en-US" sz="2450" b="1" dirty="0">
                <a:solidFill>
                  <a:srgbClr val="1A202C"/>
                </a:solidFill>
                <a:latin typeface="Cairo ExtraBold" pitchFamily="34" charset="0"/>
                <a:ea typeface="Cairo ExtraBold" pitchFamily="34" charset="-122"/>
                <a:cs typeface="Cairo ExtraBold" pitchFamily="34" charset="-120"/>
              </a:rPr>
              <a:t>خطة تسويق لمدة 30 يوماً</a:t>
            </a:r>
            <a:endParaRPr lang="en-US" sz="2450" dirty="0"/>
          </a:p>
        </p:txBody>
      </p:sp>
      <p:sp>
        <p:nvSpPr>
          <p:cNvPr id="4" name="Shape 1"/>
          <p:cNvSpPr/>
          <p:nvPr/>
        </p:nvSpPr>
        <p:spPr>
          <a:xfrm>
            <a:off x="7720998" y="1403021"/>
            <a:ext cx="994377" cy="521494"/>
          </a:xfrm>
          <a:prstGeom prst="rect">
            <a:avLst/>
          </a:prstGeom>
          <a:solidFill>
            <a:srgbClr val="1A202C"/>
          </a:solidFill>
          <a:ln/>
        </p:spPr>
      </p:sp>
      <p:sp>
        <p:nvSpPr>
          <p:cNvPr id="5" name="Shape 2"/>
          <p:cNvSpPr/>
          <p:nvPr/>
        </p:nvSpPr>
        <p:spPr>
          <a:xfrm>
            <a:off x="7720998" y="1895940"/>
            <a:ext cx="994377" cy="28575"/>
          </a:xfrm>
          <a:prstGeom prst="rect">
            <a:avLst/>
          </a:prstGeom>
          <a:solidFill>
            <a:srgbClr val="D69E2E"/>
          </a:solidFill>
          <a:ln/>
        </p:spPr>
      </p:sp>
      <p:sp>
        <p:nvSpPr>
          <p:cNvPr id="6" name="Text 3"/>
          <p:cNvSpPr/>
          <p:nvPr/>
        </p:nvSpPr>
        <p:spPr>
          <a:xfrm>
            <a:off x="7720998" y="1403021"/>
            <a:ext cx="994377" cy="521494"/>
          </a:xfrm>
          <a:prstGeom prst="rect">
            <a:avLst/>
          </a:prstGeom>
          <a:noFill/>
          <a:ln/>
        </p:spPr>
        <p:txBody>
          <a:bodyPr wrap="none" lIns="127508" tIns="127508" rIns="127508" bIns="127508" rtlCol="0" anchor="ctr">
            <a:spAutoFit/>
          </a:bodyPr>
          <a:lstStyle/>
          <a:p>
            <a:pPr algn="r" indent="0" marL="0">
              <a:buNone/>
            </a:pPr>
            <a:r>
              <a:rPr lang="en-US" sz="1100" b="1" dirty="0">
                <a:solidFill>
                  <a:srgbClr val="F7FAFC"/>
                </a:solidFill>
                <a:latin typeface="Cairo ExtraBold" pitchFamily="34" charset="0"/>
                <a:ea typeface="Cairo ExtraBold" pitchFamily="34" charset="-122"/>
                <a:cs typeface="Cairo ExtraBold" pitchFamily="34" charset="-120"/>
              </a:rPr>
              <a:t>الفترة</a:t>
            </a:r>
            <a:endParaRPr lang="en-US" sz="1100" dirty="0"/>
          </a:p>
        </p:txBody>
      </p:sp>
      <p:sp>
        <p:nvSpPr>
          <p:cNvPr id="7" name="Shape 4"/>
          <p:cNvSpPr/>
          <p:nvPr/>
        </p:nvSpPr>
        <p:spPr>
          <a:xfrm>
            <a:off x="4986338" y="1403021"/>
            <a:ext cx="2734661" cy="521494"/>
          </a:xfrm>
          <a:prstGeom prst="rect">
            <a:avLst/>
          </a:prstGeom>
          <a:solidFill>
            <a:srgbClr val="1A202C"/>
          </a:solidFill>
          <a:ln/>
        </p:spPr>
      </p:sp>
      <p:sp>
        <p:nvSpPr>
          <p:cNvPr id="8" name="Shape 5"/>
          <p:cNvSpPr/>
          <p:nvPr/>
        </p:nvSpPr>
        <p:spPr>
          <a:xfrm>
            <a:off x="4986338" y="1895940"/>
            <a:ext cx="2734661" cy="28575"/>
          </a:xfrm>
          <a:prstGeom prst="rect">
            <a:avLst/>
          </a:prstGeom>
          <a:solidFill>
            <a:srgbClr val="D69E2E"/>
          </a:solidFill>
          <a:ln/>
        </p:spPr>
      </p:sp>
      <p:sp>
        <p:nvSpPr>
          <p:cNvPr id="9" name="Text 6"/>
          <p:cNvSpPr/>
          <p:nvPr/>
        </p:nvSpPr>
        <p:spPr>
          <a:xfrm>
            <a:off x="4986338" y="1403021"/>
            <a:ext cx="2734661" cy="521494"/>
          </a:xfrm>
          <a:prstGeom prst="rect">
            <a:avLst/>
          </a:prstGeom>
          <a:noFill/>
          <a:ln/>
        </p:spPr>
        <p:txBody>
          <a:bodyPr wrap="square" lIns="127508" tIns="127508" rIns="127508" bIns="127508" rtlCol="0" anchor="ctr">
            <a:spAutoFit/>
          </a:bodyPr>
          <a:lstStyle/>
          <a:p>
            <a:pPr algn="r" indent="0" marL="0">
              <a:buNone/>
            </a:pPr>
            <a:r>
              <a:rPr lang="en-US" sz="1100" b="1" dirty="0">
                <a:solidFill>
                  <a:srgbClr val="F7FAFC"/>
                </a:solidFill>
                <a:latin typeface="Cairo ExtraBold" pitchFamily="34" charset="0"/>
                <a:ea typeface="Cairo ExtraBold" pitchFamily="34" charset="-122"/>
                <a:cs typeface="Cairo ExtraBold" pitchFamily="34" charset="-120"/>
              </a:rPr>
              <a:t>التنفيذ</a:t>
            </a:r>
            <a:endParaRPr lang="en-US" sz="1100" dirty="0"/>
          </a:p>
        </p:txBody>
      </p:sp>
      <p:sp>
        <p:nvSpPr>
          <p:cNvPr id="10" name="Shape 7"/>
          <p:cNvSpPr/>
          <p:nvPr/>
        </p:nvSpPr>
        <p:spPr>
          <a:xfrm>
            <a:off x="3743325" y="1403021"/>
            <a:ext cx="1243013" cy="521494"/>
          </a:xfrm>
          <a:prstGeom prst="rect">
            <a:avLst/>
          </a:prstGeom>
          <a:solidFill>
            <a:srgbClr val="1A202C"/>
          </a:solidFill>
          <a:ln/>
        </p:spPr>
      </p:sp>
      <p:sp>
        <p:nvSpPr>
          <p:cNvPr id="11" name="Shape 8"/>
          <p:cNvSpPr/>
          <p:nvPr/>
        </p:nvSpPr>
        <p:spPr>
          <a:xfrm>
            <a:off x="3743325" y="1895940"/>
            <a:ext cx="1243013" cy="28575"/>
          </a:xfrm>
          <a:prstGeom prst="rect">
            <a:avLst/>
          </a:prstGeom>
          <a:solidFill>
            <a:srgbClr val="D69E2E"/>
          </a:solidFill>
          <a:ln/>
        </p:spPr>
      </p:sp>
      <p:sp>
        <p:nvSpPr>
          <p:cNvPr id="12" name="Text 9"/>
          <p:cNvSpPr/>
          <p:nvPr/>
        </p:nvSpPr>
        <p:spPr>
          <a:xfrm>
            <a:off x="3743325" y="1403021"/>
            <a:ext cx="1243013" cy="521494"/>
          </a:xfrm>
          <a:prstGeom prst="rect">
            <a:avLst/>
          </a:prstGeom>
          <a:noFill/>
          <a:ln/>
        </p:spPr>
        <p:txBody>
          <a:bodyPr wrap="none" lIns="127508" tIns="127508" rIns="127508" bIns="127508" rtlCol="0" anchor="ctr">
            <a:spAutoFit/>
          </a:bodyPr>
          <a:lstStyle/>
          <a:p>
            <a:pPr algn="r" indent="0" marL="0">
              <a:buNone/>
            </a:pPr>
            <a:r>
              <a:rPr lang="en-US" sz="1100" b="1" dirty="0">
                <a:solidFill>
                  <a:srgbClr val="F7FAFC"/>
                </a:solidFill>
                <a:latin typeface="Cairo ExtraBold" pitchFamily="34" charset="0"/>
                <a:ea typeface="Cairo ExtraBold" pitchFamily="34" charset="-122"/>
                <a:cs typeface="Cairo ExtraBold" pitchFamily="34" charset="-120"/>
              </a:rPr>
              <a:t>الهدف</a:t>
            </a:r>
            <a:endParaRPr lang="en-US" sz="1100" dirty="0"/>
          </a:p>
        </p:txBody>
      </p:sp>
      <p:sp>
        <p:nvSpPr>
          <p:cNvPr id="13" name="Text 10"/>
          <p:cNvSpPr/>
          <p:nvPr/>
        </p:nvSpPr>
        <p:spPr>
          <a:xfrm>
            <a:off x="7720998" y="1910228"/>
            <a:ext cx="994377" cy="753666"/>
          </a:xfrm>
          <a:prstGeom prst="rect">
            <a:avLst/>
          </a:prstGeom>
          <a:noFill/>
          <a:ln/>
        </p:spPr>
        <p:txBody>
          <a:bodyPr wrap="none" lIns="127508" tIns="127508" rIns="127508" bIns="127508" rtlCol="0" anchor="ctr">
            <a:spAutoFit/>
          </a:bodyPr>
          <a:lstStyle/>
          <a:p>
            <a:pPr algn="r" indent="0" marL="0">
              <a:buNone/>
            </a:pPr>
            <a:r>
              <a:rPr lang="en-US" sz="1000" b="1" dirty="0">
                <a:solidFill>
                  <a:srgbClr val="D69E2E"/>
                </a:solidFill>
                <a:latin typeface="Cairo ExtraBold" pitchFamily="34" charset="0"/>
                <a:ea typeface="Cairo ExtraBold" pitchFamily="34" charset="-122"/>
                <a:cs typeface="Cairo ExtraBold" pitchFamily="34" charset="-120"/>
              </a:rPr>
              <a:t>الأيام 1–3</a:t>
            </a:r>
            <a:endParaRPr lang="en-US" sz="1000" dirty="0"/>
          </a:p>
        </p:txBody>
      </p:sp>
      <p:sp>
        <p:nvSpPr>
          <p:cNvPr id="14" name="Text 11"/>
          <p:cNvSpPr/>
          <p:nvPr/>
        </p:nvSpPr>
        <p:spPr>
          <a:xfrm>
            <a:off x="4986338" y="1910228"/>
            <a:ext cx="2734661" cy="753666"/>
          </a:xfrm>
          <a:prstGeom prst="rect">
            <a:avLst/>
          </a:prstGeom>
          <a:noFill/>
          <a:ln/>
        </p:spPr>
        <p:txBody>
          <a:bodyPr wrap="square" lIns="127508" tIns="127508" rIns="127508" bIns="127508" rtlCol="0" anchor="ctr">
            <a:spAutoFit/>
          </a:bodyPr>
          <a:lstStyle/>
          <a:p>
            <a:pPr algn="r" indent="0" marL="0">
              <a:buNone/>
            </a:pPr>
            <a:r>
              <a:rPr lang="en-US" sz="1050" dirty="0">
                <a:solidFill>
                  <a:srgbClr val="2D3748"/>
                </a:solidFill>
                <a:latin typeface="Cairo Light" pitchFamily="34" charset="0"/>
                <a:ea typeface="Cairo Light" pitchFamily="34" charset="-122"/>
                <a:cs typeface="Cairo Light" pitchFamily="34" charset="-120"/>
              </a:rPr>
              <a:t>إطلاق الصفحة، زر واتساب، الخريطة، وكود WEB10</a:t>
            </a:r>
            <a:endParaRPr lang="en-US" sz="1050" dirty="0"/>
          </a:p>
        </p:txBody>
      </p:sp>
      <p:sp>
        <p:nvSpPr>
          <p:cNvPr id="15" name="Text 12"/>
          <p:cNvSpPr/>
          <p:nvPr/>
        </p:nvSpPr>
        <p:spPr>
          <a:xfrm>
            <a:off x="3743325" y="1910228"/>
            <a:ext cx="1243013" cy="753666"/>
          </a:xfrm>
          <a:prstGeom prst="rect">
            <a:avLst/>
          </a:prstGeom>
          <a:noFill/>
          <a:ln/>
        </p:spPr>
        <p:txBody>
          <a:bodyPr wrap="none" lIns="127508" tIns="127508" rIns="127508" bIns="127508" rtlCol="0" anchor="ctr">
            <a:spAutoFit/>
          </a:bodyPr>
          <a:lstStyle/>
          <a:p>
            <a:pPr algn="r" indent="0" marL="0">
              <a:buNone/>
            </a:pPr>
            <a:r>
              <a:rPr lang="en-US" sz="1000" b="1" dirty="0">
                <a:solidFill>
                  <a:srgbClr val="2D3748"/>
                </a:solidFill>
                <a:latin typeface="Cairo ExtraBold" pitchFamily="34" charset="0"/>
                <a:ea typeface="Cairo ExtraBold" pitchFamily="34" charset="-122"/>
                <a:cs typeface="Cairo ExtraBold" pitchFamily="34" charset="-120"/>
              </a:rPr>
              <a:t>تأسيس مسار الطلب</a:t>
            </a:r>
            <a:endParaRPr lang="en-US" sz="1000" dirty="0"/>
          </a:p>
        </p:txBody>
      </p:sp>
      <p:sp>
        <p:nvSpPr>
          <p:cNvPr id="16" name="Shape 13"/>
          <p:cNvSpPr/>
          <p:nvPr/>
        </p:nvSpPr>
        <p:spPr>
          <a:xfrm>
            <a:off x="3743325" y="2663893"/>
            <a:ext cx="4972050" cy="489347"/>
          </a:xfrm>
          <a:prstGeom prst="rect">
            <a:avLst/>
          </a:prstGeom>
          <a:solidFill>
            <a:srgbClr val="E2E8F0">
              <a:alpha val="40000"/>
            </a:srgbClr>
          </a:solidFill>
          <a:ln/>
        </p:spPr>
      </p:sp>
      <p:sp>
        <p:nvSpPr>
          <p:cNvPr id="17" name="Text 14"/>
          <p:cNvSpPr/>
          <p:nvPr/>
        </p:nvSpPr>
        <p:spPr>
          <a:xfrm>
            <a:off x="7720998" y="2663893"/>
            <a:ext cx="994377" cy="489347"/>
          </a:xfrm>
          <a:prstGeom prst="rect">
            <a:avLst/>
          </a:prstGeom>
          <a:noFill/>
          <a:ln/>
        </p:spPr>
        <p:txBody>
          <a:bodyPr wrap="none" lIns="127508" tIns="127508" rIns="127508" bIns="127508" rtlCol="0" anchor="ctr">
            <a:spAutoFit/>
          </a:bodyPr>
          <a:lstStyle/>
          <a:p>
            <a:pPr algn="r" indent="0" marL="0">
              <a:buNone/>
            </a:pPr>
            <a:r>
              <a:rPr lang="en-US" sz="1000" b="1" dirty="0">
                <a:solidFill>
                  <a:srgbClr val="D69E2E"/>
                </a:solidFill>
                <a:latin typeface="Cairo ExtraBold" pitchFamily="34" charset="0"/>
                <a:ea typeface="Cairo ExtraBold" pitchFamily="34" charset="-122"/>
                <a:cs typeface="Cairo ExtraBold" pitchFamily="34" charset="-120"/>
              </a:rPr>
              <a:t>الأسبوع 1</a:t>
            </a:r>
            <a:endParaRPr lang="en-US" sz="1000" dirty="0"/>
          </a:p>
        </p:txBody>
      </p:sp>
      <p:sp>
        <p:nvSpPr>
          <p:cNvPr id="18" name="Text 15"/>
          <p:cNvSpPr/>
          <p:nvPr/>
        </p:nvSpPr>
        <p:spPr>
          <a:xfrm>
            <a:off x="4986338" y="2663893"/>
            <a:ext cx="2734661" cy="489347"/>
          </a:xfrm>
          <a:prstGeom prst="rect">
            <a:avLst/>
          </a:prstGeom>
          <a:noFill/>
          <a:ln/>
        </p:spPr>
        <p:txBody>
          <a:bodyPr wrap="square" lIns="127508" tIns="127508" rIns="127508" bIns="127508" rtlCol="0" anchor="ctr">
            <a:spAutoFit/>
          </a:bodyPr>
          <a:lstStyle/>
          <a:p>
            <a:pPr algn="r" indent="0" marL="0">
              <a:buNone/>
            </a:pPr>
            <a:r>
              <a:rPr lang="en-US" sz="1050" dirty="0">
                <a:solidFill>
                  <a:srgbClr val="2D3748"/>
                </a:solidFill>
                <a:latin typeface="Cairo Light" pitchFamily="34" charset="0"/>
                <a:ea typeface="Cairo Light" pitchFamily="34" charset="-122"/>
                <a:cs typeface="Cairo Light" pitchFamily="34" charset="-120"/>
              </a:rPr>
              <a:t>منشورات وفيديوهات قصيرة لأفضل 3 وجبات</a:t>
            </a:r>
            <a:endParaRPr lang="en-US" sz="1050" dirty="0"/>
          </a:p>
        </p:txBody>
      </p:sp>
      <p:sp>
        <p:nvSpPr>
          <p:cNvPr id="19" name="Text 16"/>
          <p:cNvSpPr/>
          <p:nvPr/>
        </p:nvSpPr>
        <p:spPr>
          <a:xfrm>
            <a:off x="3743325" y="2663893"/>
            <a:ext cx="1243013" cy="489347"/>
          </a:xfrm>
          <a:prstGeom prst="rect">
            <a:avLst/>
          </a:prstGeom>
          <a:noFill/>
          <a:ln/>
        </p:spPr>
        <p:txBody>
          <a:bodyPr wrap="none" lIns="127508" tIns="127508" rIns="127508" bIns="127508" rtlCol="0" anchor="ctr">
            <a:spAutoFit/>
          </a:bodyPr>
          <a:lstStyle/>
          <a:p>
            <a:pPr algn="r" indent="0" marL="0">
              <a:buNone/>
            </a:pPr>
            <a:r>
              <a:rPr lang="en-US" sz="1000" b="1" dirty="0">
                <a:solidFill>
                  <a:srgbClr val="2D3748"/>
                </a:solidFill>
                <a:latin typeface="Cairo ExtraBold" pitchFamily="34" charset="0"/>
                <a:ea typeface="Cairo ExtraBold" pitchFamily="34" charset="-122"/>
                <a:cs typeface="Cairo ExtraBold" pitchFamily="34" charset="-120"/>
              </a:rPr>
              <a:t>جذب الزيارات</a:t>
            </a:r>
            <a:endParaRPr lang="en-US" sz="1000" dirty="0"/>
          </a:p>
        </p:txBody>
      </p:sp>
      <p:sp>
        <p:nvSpPr>
          <p:cNvPr id="20" name="Text 17"/>
          <p:cNvSpPr/>
          <p:nvPr/>
        </p:nvSpPr>
        <p:spPr>
          <a:xfrm>
            <a:off x="7720998" y="3153240"/>
            <a:ext cx="994377" cy="757238"/>
          </a:xfrm>
          <a:prstGeom prst="rect">
            <a:avLst/>
          </a:prstGeom>
          <a:noFill/>
          <a:ln/>
        </p:spPr>
        <p:txBody>
          <a:bodyPr wrap="none" lIns="127508" tIns="127508" rIns="127508" bIns="127508" rtlCol="0" anchor="ctr">
            <a:spAutoFit/>
          </a:bodyPr>
          <a:lstStyle/>
          <a:p>
            <a:pPr algn="r" indent="0" marL="0">
              <a:buNone/>
            </a:pPr>
            <a:r>
              <a:rPr lang="en-US" sz="1000" b="1" dirty="0">
                <a:solidFill>
                  <a:srgbClr val="D69E2E"/>
                </a:solidFill>
                <a:latin typeface="Cairo ExtraBold" pitchFamily="34" charset="0"/>
                <a:ea typeface="Cairo ExtraBold" pitchFamily="34" charset="-122"/>
                <a:cs typeface="Cairo ExtraBold" pitchFamily="34" charset="-120"/>
              </a:rPr>
              <a:t>الأسبوع 2</a:t>
            </a:r>
            <a:endParaRPr lang="en-US" sz="1000" dirty="0"/>
          </a:p>
        </p:txBody>
      </p:sp>
      <p:sp>
        <p:nvSpPr>
          <p:cNvPr id="21" name="Text 18"/>
          <p:cNvSpPr/>
          <p:nvPr/>
        </p:nvSpPr>
        <p:spPr>
          <a:xfrm>
            <a:off x="4986338" y="3153240"/>
            <a:ext cx="2734661" cy="757238"/>
          </a:xfrm>
          <a:prstGeom prst="rect">
            <a:avLst/>
          </a:prstGeom>
          <a:noFill/>
          <a:ln/>
        </p:spPr>
        <p:txBody>
          <a:bodyPr wrap="square" lIns="127508" tIns="127508" rIns="127508" bIns="127508" rtlCol="0" anchor="ctr">
            <a:spAutoFit/>
          </a:bodyPr>
          <a:lstStyle/>
          <a:p>
            <a:pPr algn="r" indent="0" marL="0">
              <a:buNone/>
            </a:pPr>
            <a:r>
              <a:rPr lang="en-US" sz="1050" dirty="0">
                <a:solidFill>
                  <a:srgbClr val="2D3748"/>
                </a:solidFill>
                <a:latin typeface="Cairo Light" pitchFamily="34" charset="0"/>
                <a:ea typeface="Cairo Light" pitchFamily="34" charset="-122"/>
                <a:cs typeface="Cairo Light" pitchFamily="34" charset="-120"/>
              </a:rPr>
              <a:t>إعلان محلي حول الفرع ومناطق التوصيل</a:t>
            </a:r>
            <a:endParaRPr lang="en-US" sz="1050" dirty="0"/>
          </a:p>
        </p:txBody>
      </p:sp>
      <p:sp>
        <p:nvSpPr>
          <p:cNvPr id="22" name="Text 19"/>
          <p:cNvSpPr/>
          <p:nvPr/>
        </p:nvSpPr>
        <p:spPr>
          <a:xfrm>
            <a:off x="3743325" y="3153240"/>
            <a:ext cx="1243013" cy="757238"/>
          </a:xfrm>
          <a:prstGeom prst="rect">
            <a:avLst/>
          </a:prstGeom>
          <a:noFill/>
          <a:ln/>
        </p:spPr>
        <p:txBody>
          <a:bodyPr wrap="none" lIns="127508" tIns="127508" rIns="127508" bIns="127508" rtlCol="0" anchor="ctr">
            <a:spAutoFit/>
          </a:bodyPr>
          <a:lstStyle/>
          <a:p>
            <a:pPr algn="r" indent="0" marL="0">
              <a:buNone/>
            </a:pPr>
            <a:r>
              <a:rPr lang="en-US" sz="1000" b="1" dirty="0">
                <a:solidFill>
                  <a:srgbClr val="2D3748"/>
                </a:solidFill>
                <a:latin typeface="Cairo ExtraBold" pitchFamily="34" charset="0"/>
                <a:ea typeface="Cairo ExtraBold" pitchFamily="34" charset="-122"/>
                <a:cs typeface="Cairo ExtraBold" pitchFamily="34" charset="-120"/>
              </a:rPr>
              <a:t>اختبار تكلفة الوصول</a:t>
            </a:r>
            <a:endParaRPr lang="en-US" sz="1000" dirty="0"/>
          </a:p>
        </p:txBody>
      </p:sp>
      <p:sp>
        <p:nvSpPr>
          <p:cNvPr id="23" name="Shape 20"/>
          <p:cNvSpPr/>
          <p:nvPr/>
        </p:nvSpPr>
        <p:spPr>
          <a:xfrm>
            <a:off x="3743325" y="3910478"/>
            <a:ext cx="4972050" cy="757238"/>
          </a:xfrm>
          <a:prstGeom prst="rect">
            <a:avLst/>
          </a:prstGeom>
          <a:solidFill>
            <a:srgbClr val="E2E8F0">
              <a:alpha val="40000"/>
            </a:srgbClr>
          </a:solidFill>
          <a:ln/>
        </p:spPr>
      </p:sp>
      <p:sp>
        <p:nvSpPr>
          <p:cNvPr id="24" name="Text 21"/>
          <p:cNvSpPr/>
          <p:nvPr/>
        </p:nvSpPr>
        <p:spPr>
          <a:xfrm>
            <a:off x="7720998" y="3910478"/>
            <a:ext cx="994377" cy="757238"/>
          </a:xfrm>
          <a:prstGeom prst="rect">
            <a:avLst/>
          </a:prstGeom>
          <a:noFill/>
          <a:ln/>
        </p:spPr>
        <p:txBody>
          <a:bodyPr wrap="none" lIns="127508" tIns="127508" rIns="127508" bIns="127508" rtlCol="0" anchor="ctr">
            <a:spAutoFit/>
          </a:bodyPr>
          <a:lstStyle/>
          <a:p>
            <a:pPr algn="r" indent="0" marL="0">
              <a:buNone/>
            </a:pPr>
            <a:r>
              <a:rPr lang="en-US" sz="1000" b="1" dirty="0">
                <a:solidFill>
                  <a:srgbClr val="D69E2E"/>
                </a:solidFill>
                <a:latin typeface="Cairo ExtraBold" pitchFamily="34" charset="0"/>
                <a:ea typeface="Cairo ExtraBold" pitchFamily="34" charset="-122"/>
                <a:cs typeface="Cairo ExtraBold" pitchFamily="34" charset="-120"/>
              </a:rPr>
              <a:t>الأسبوع 3</a:t>
            </a:r>
            <a:endParaRPr lang="en-US" sz="1000" dirty="0"/>
          </a:p>
        </p:txBody>
      </p:sp>
      <p:sp>
        <p:nvSpPr>
          <p:cNvPr id="25" name="Text 22"/>
          <p:cNvSpPr/>
          <p:nvPr/>
        </p:nvSpPr>
        <p:spPr>
          <a:xfrm>
            <a:off x="4986338" y="3910478"/>
            <a:ext cx="2734661" cy="757238"/>
          </a:xfrm>
          <a:prstGeom prst="rect">
            <a:avLst/>
          </a:prstGeom>
          <a:noFill/>
          <a:ln/>
        </p:spPr>
        <p:txBody>
          <a:bodyPr wrap="square" lIns="127508" tIns="127508" rIns="127508" bIns="127508" rtlCol="0" anchor="ctr">
            <a:spAutoFit/>
          </a:bodyPr>
          <a:lstStyle/>
          <a:p>
            <a:pPr algn="r" indent="0" marL="0">
              <a:buNone/>
            </a:pPr>
            <a:r>
              <a:rPr lang="en-US" sz="1050" dirty="0">
                <a:solidFill>
                  <a:srgbClr val="2D3748"/>
                </a:solidFill>
                <a:latin typeface="Cairo Light" pitchFamily="34" charset="0"/>
                <a:ea typeface="Cairo Light" pitchFamily="34" charset="-122"/>
                <a:cs typeface="Cairo Light" pitchFamily="34" charset="-120"/>
              </a:rPr>
              <a:t>عرض باكدج أو وجبة لشخصين مع كود مختلف</a:t>
            </a:r>
            <a:endParaRPr lang="en-US" sz="1050" dirty="0"/>
          </a:p>
        </p:txBody>
      </p:sp>
      <p:sp>
        <p:nvSpPr>
          <p:cNvPr id="26" name="Text 23"/>
          <p:cNvSpPr/>
          <p:nvPr/>
        </p:nvSpPr>
        <p:spPr>
          <a:xfrm>
            <a:off x="3743325" y="3910478"/>
            <a:ext cx="1243013" cy="757238"/>
          </a:xfrm>
          <a:prstGeom prst="rect">
            <a:avLst/>
          </a:prstGeom>
          <a:noFill/>
          <a:ln/>
        </p:spPr>
        <p:txBody>
          <a:bodyPr wrap="none" lIns="127508" tIns="127508" rIns="127508" bIns="127508" rtlCol="0" anchor="ctr">
            <a:spAutoFit/>
          </a:bodyPr>
          <a:lstStyle/>
          <a:p>
            <a:pPr algn="r" indent="0" marL="0">
              <a:buNone/>
            </a:pPr>
            <a:r>
              <a:rPr lang="en-US" sz="1000" b="1" dirty="0">
                <a:solidFill>
                  <a:srgbClr val="2D3748"/>
                </a:solidFill>
                <a:latin typeface="Cairo ExtraBold" pitchFamily="34" charset="0"/>
                <a:ea typeface="Cairo ExtraBold" pitchFamily="34" charset="-122"/>
                <a:cs typeface="Cairo ExtraBold" pitchFamily="34" charset="-120"/>
              </a:rPr>
              <a:t>رفع متوسط الطلب</a:t>
            </a:r>
            <a:endParaRPr lang="en-US" sz="1000" dirty="0"/>
          </a:p>
        </p:txBody>
      </p:sp>
      <p:sp>
        <p:nvSpPr>
          <p:cNvPr id="27" name="Text 24"/>
          <p:cNvSpPr/>
          <p:nvPr/>
        </p:nvSpPr>
        <p:spPr>
          <a:xfrm>
            <a:off x="7720998" y="4667715"/>
            <a:ext cx="994377" cy="757238"/>
          </a:xfrm>
          <a:prstGeom prst="rect">
            <a:avLst/>
          </a:prstGeom>
          <a:noFill/>
          <a:ln/>
        </p:spPr>
        <p:txBody>
          <a:bodyPr wrap="none" lIns="127508" tIns="127508" rIns="127508" bIns="127508" rtlCol="0" anchor="ctr">
            <a:spAutoFit/>
          </a:bodyPr>
          <a:lstStyle/>
          <a:p>
            <a:pPr algn="r" indent="0" marL="0">
              <a:buNone/>
            </a:pPr>
            <a:r>
              <a:rPr lang="en-US" sz="1000" b="1" dirty="0">
                <a:solidFill>
                  <a:srgbClr val="D69E2E"/>
                </a:solidFill>
                <a:latin typeface="Cairo ExtraBold" pitchFamily="34" charset="0"/>
                <a:ea typeface="Cairo ExtraBold" pitchFamily="34" charset="-122"/>
                <a:cs typeface="Cairo ExtraBold" pitchFamily="34" charset="-120"/>
              </a:rPr>
              <a:t>الأسبوع 4</a:t>
            </a:r>
            <a:endParaRPr lang="en-US" sz="1000" dirty="0"/>
          </a:p>
        </p:txBody>
      </p:sp>
      <p:sp>
        <p:nvSpPr>
          <p:cNvPr id="28" name="Text 25"/>
          <p:cNvSpPr/>
          <p:nvPr/>
        </p:nvSpPr>
        <p:spPr>
          <a:xfrm>
            <a:off x="4986338" y="4667715"/>
            <a:ext cx="2734661" cy="757238"/>
          </a:xfrm>
          <a:prstGeom prst="rect">
            <a:avLst/>
          </a:prstGeom>
          <a:noFill/>
          <a:ln/>
        </p:spPr>
        <p:txBody>
          <a:bodyPr wrap="square" lIns="127508" tIns="127508" rIns="127508" bIns="127508" rtlCol="0" anchor="ctr">
            <a:spAutoFit/>
          </a:bodyPr>
          <a:lstStyle/>
          <a:p>
            <a:pPr algn="r" indent="0" marL="0">
              <a:buNone/>
            </a:pPr>
            <a:r>
              <a:rPr lang="en-US" sz="1050" dirty="0">
                <a:solidFill>
                  <a:srgbClr val="2D3748"/>
                </a:solidFill>
                <a:latin typeface="Cairo Light" pitchFamily="34" charset="0"/>
                <a:ea typeface="Cairo Light" pitchFamily="34" charset="-122"/>
                <a:cs typeface="Cairo Light" pitchFamily="34" charset="-120"/>
              </a:rPr>
              <a:t>إعادة نشر التقييمات، تحسين العرض، وتقرير النتائج</a:t>
            </a:r>
            <a:endParaRPr lang="en-US" sz="1050" dirty="0"/>
          </a:p>
        </p:txBody>
      </p:sp>
      <p:sp>
        <p:nvSpPr>
          <p:cNvPr id="29" name="Text 26"/>
          <p:cNvSpPr/>
          <p:nvPr/>
        </p:nvSpPr>
        <p:spPr>
          <a:xfrm>
            <a:off x="3743325" y="4667715"/>
            <a:ext cx="1243013" cy="757238"/>
          </a:xfrm>
          <a:prstGeom prst="rect">
            <a:avLst/>
          </a:prstGeom>
          <a:noFill/>
          <a:ln/>
        </p:spPr>
        <p:txBody>
          <a:bodyPr wrap="none" lIns="127508" tIns="127508" rIns="127508" bIns="127508" rtlCol="0" anchor="ctr">
            <a:spAutoFit/>
          </a:bodyPr>
          <a:lstStyle/>
          <a:p>
            <a:pPr algn="r" indent="0" marL="0">
              <a:buNone/>
            </a:pPr>
            <a:r>
              <a:rPr lang="en-US" sz="1000" b="1" dirty="0">
                <a:solidFill>
                  <a:srgbClr val="2D3748"/>
                </a:solidFill>
                <a:latin typeface="Cairo ExtraBold" pitchFamily="34" charset="0"/>
                <a:ea typeface="Cairo ExtraBold" pitchFamily="34" charset="-122"/>
                <a:cs typeface="Cairo ExtraBold" pitchFamily="34" charset="-120"/>
              </a:rPr>
              <a:t>تثبيت ما ينجح</a:t>
            </a:r>
            <a:endParaRPr lang="en-US" sz="1000" dirty="0"/>
          </a:p>
        </p:txBody>
      </p:sp>
      <p:pic>
        <p:nvPicPr>
          <p:cNvPr id="30" name="Image 1" descr="preencoded.png">    </p:cNvPr>
          <p:cNvPicPr>
            <a:picLocks noChangeAspect="1"/>
          </p:cNvPicPr>
          <p:nvPr/>
        </p:nvPicPr>
        <p:blipFill>
          <a:blip r:embed="rId2"/>
          <a:stretch>
            <a:fillRect/>
          </a:stretch>
        </p:blipFill>
        <p:spPr>
          <a:xfrm>
            <a:off x="500063" y="1345871"/>
            <a:ext cx="2914650" cy="2057400"/>
          </a:xfrm>
          <a:prstGeom prst="rect">
            <a:avLst/>
          </a:prstGeom>
        </p:spPr>
      </p:pic>
      <p:sp>
        <p:nvSpPr>
          <p:cNvPr id="31" name="Shape 27"/>
          <p:cNvSpPr/>
          <p:nvPr/>
        </p:nvSpPr>
        <p:spPr>
          <a:xfrm>
            <a:off x="457200" y="3589009"/>
            <a:ext cx="3000375" cy="1107951"/>
          </a:xfrm>
          <a:prstGeom prst="rect">
            <a:avLst/>
          </a:prstGeom>
          <a:solidFill>
            <a:srgbClr val="1A202C"/>
          </a:solidFill>
          <a:ln/>
        </p:spPr>
      </p:sp>
      <p:sp>
        <p:nvSpPr>
          <p:cNvPr id="32" name="Shape 28"/>
          <p:cNvSpPr/>
          <p:nvPr/>
        </p:nvSpPr>
        <p:spPr>
          <a:xfrm>
            <a:off x="3414713" y="3589009"/>
            <a:ext cx="42863" cy="1107951"/>
          </a:xfrm>
          <a:prstGeom prst="rect">
            <a:avLst/>
          </a:prstGeom>
          <a:solidFill>
            <a:srgbClr val="D69E2E"/>
          </a:solidFill>
          <a:ln/>
        </p:spPr>
      </p:sp>
      <p:pic>
        <p:nvPicPr>
          <p:cNvPr id="33" name="Image 2" descr="preencoded.png">    </p:cNvPr>
          <p:cNvPicPr>
            <a:picLocks noChangeAspect="1"/>
          </p:cNvPicPr>
          <p:nvPr/>
        </p:nvPicPr>
        <p:blipFill>
          <a:blip r:embed="rId3"/>
          <a:stretch>
            <a:fillRect/>
          </a:stretch>
        </p:blipFill>
        <p:spPr>
          <a:xfrm>
            <a:off x="3136106" y="3830110"/>
            <a:ext cx="142875" cy="142875"/>
          </a:xfrm>
          <a:prstGeom prst="rect">
            <a:avLst/>
          </a:prstGeom>
        </p:spPr>
      </p:pic>
      <p:sp>
        <p:nvSpPr>
          <p:cNvPr id="34" name="Text 29"/>
          <p:cNvSpPr/>
          <p:nvPr/>
        </p:nvSpPr>
        <p:spPr>
          <a:xfrm>
            <a:off x="2050256" y="3767603"/>
            <a:ext cx="1014413" cy="267891"/>
          </a:xfrm>
          <a:prstGeom prst="rect">
            <a:avLst/>
          </a:prstGeom>
          <a:noFill/>
          <a:ln/>
        </p:spPr>
        <p:txBody>
          <a:bodyPr wrap="none" lIns="0" tIns="0" rIns="0" bIns="0" rtlCol="0" anchor="t">
            <a:spAutoFit/>
          </a:bodyPr>
          <a:lstStyle/>
          <a:p>
            <a:pPr algn="l" indent="0" marL="0">
              <a:buNone/>
            </a:pPr>
            <a:r>
              <a:rPr lang="en-US" sz="1000" b="1" dirty="0">
                <a:solidFill>
                  <a:srgbClr val="D69E2E"/>
                </a:solidFill>
                <a:latin typeface="Cairo ExtraBold" pitchFamily="34" charset="0"/>
                <a:ea typeface="Cairo ExtraBold" pitchFamily="34" charset="-122"/>
                <a:cs typeface="Cairo ExtraBold" pitchFamily="34" charset="-120"/>
              </a:rPr>
              <a:t>القاعدة الذهبية</a:t>
            </a:r>
            <a:endParaRPr lang="en-US" sz="1000" dirty="0"/>
          </a:p>
        </p:txBody>
      </p:sp>
      <p:sp>
        <p:nvSpPr>
          <p:cNvPr id="35" name="Text 30"/>
          <p:cNvSpPr/>
          <p:nvPr/>
        </p:nvSpPr>
        <p:spPr>
          <a:xfrm>
            <a:off x="635794" y="4106931"/>
            <a:ext cx="2643188" cy="411435"/>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F7FAFC"/>
                </a:solidFill>
                <a:latin typeface="Cairo Light" pitchFamily="34" charset="0"/>
                <a:ea typeface="Cairo Light" pitchFamily="34" charset="-122"/>
                <a:cs typeface="Cairo Light" pitchFamily="34" charset="-120"/>
              </a:rPr>
              <a:t>لا نعلن قبل أن نتأكد أن الصفحة تعمل جيداً على الهاتف وأن رقم الطلب صحيح ويستقبل الرسائل.</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714375" y="685800"/>
            <a:ext cx="7715250" cy="445759"/>
          </a:xfrm>
          <a:prstGeom prst="rect">
            <a:avLst/>
          </a:prstGeom>
          <a:noFill/>
          <a:ln/>
        </p:spPr>
        <p:txBody>
          <a:bodyPr wrap="none" lIns="0" tIns="0" rIns="0" bIns="0" rtlCol="0" anchor="t">
            <a:spAutoFit/>
          </a:bodyPr>
          <a:lstStyle/>
          <a:p>
            <a:pPr algn="l" indent="0" marL="0">
              <a:lnSpc>
                <a:spcPct val="104000"/>
              </a:lnSpc>
              <a:buNone/>
            </a:pPr>
            <a:r>
              <a:rPr lang="en-US" sz="2450" b="1" dirty="0">
                <a:solidFill>
                  <a:srgbClr val="1A202C"/>
                </a:solidFill>
                <a:latin typeface="Cairo ExtraBold" pitchFamily="34" charset="0"/>
                <a:ea typeface="Cairo ExtraBold" pitchFamily="34" charset="-122"/>
                <a:cs typeface="Cairo ExtraBold" pitchFamily="34" charset="-120"/>
              </a:rPr>
              <a:t>ثلاث باقات سهلة البيع</a:t>
            </a:r>
            <a:endParaRPr lang="en-US" sz="2450" dirty="0"/>
          </a:p>
        </p:txBody>
      </p:sp>
      <p:sp>
        <p:nvSpPr>
          <p:cNvPr id="4" name="Shape 1"/>
          <p:cNvSpPr/>
          <p:nvPr/>
        </p:nvSpPr>
        <p:spPr>
          <a:xfrm>
            <a:off x="5943600" y="1345871"/>
            <a:ext cx="2486025" cy="2582466"/>
          </a:xfrm>
          <a:prstGeom prst="rect">
            <a:avLst/>
          </a:prstGeom>
          <a:solidFill>
            <a:srgbClr val="F7FAFC"/>
          </a:solidFill>
          <a:ln w="18288">
            <a:solidFill>
              <a:srgbClr val="1A202C"/>
            </a:solidFill>
            <a:prstDash val="solid"/>
          </a:ln>
        </p:spPr>
      </p:sp>
      <p:sp>
        <p:nvSpPr>
          <p:cNvPr id="5" name="Shape 2"/>
          <p:cNvSpPr/>
          <p:nvPr/>
        </p:nvSpPr>
        <p:spPr>
          <a:xfrm>
            <a:off x="5943600" y="1345871"/>
            <a:ext cx="2486025" cy="575072"/>
          </a:xfrm>
          <a:prstGeom prst="rect">
            <a:avLst/>
          </a:prstGeom>
          <a:solidFill>
            <a:srgbClr val="1A202C"/>
          </a:solidFill>
          <a:ln/>
        </p:spPr>
      </p:sp>
      <p:sp>
        <p:nvSpPr>
          <p:cNvPr id="6" name="Shape 3"/>
          <p:cNvSpPr/>
          <p:nvPr/>
        </p:nvSpPr>
        <p:spPr>
          <a:xfrm>
            <a:off x="5943600" y="1892368"/>
            <a:ext cx="2486025" cy="28575"/>
          </a:xfrm>
          <a:prstGeom prst="rect">
            <a:avLst/>
          </a:prstGeom>
          <a:solidFill>
            <a:srgbClr val="D69E2E"/>
          </a:solidFill>
          <a:ln/>
        </p:spPr>
      </p:sp>
      <p:sp>
        <p:nvSpPr>
          <p:cNvPr id="7" name="Text 4"/>
          <p:cNvSpPr/>
          <p:nvPr/>
        </p:nvSpPr>
        <p:spPr>
          <a:xfrm>
            <a:off x="6029325" y="1431596"/>
            <a:ext cx="2314575" cy="375047"/>
          </a:xfrm>
          <a:prstGeom prst="rect">
            <a:avLst/>
          </a:prstGeom>
          <a:noFill/>
          <a:ln/>
        </p:spPr>
        <p:txBody>
          <a:bodyPr wrap="square" lIns="0" tIns="0" rIns="0" bIns="0" rtlCol="0" anchor="t">
            <a:spAutoFit/>
          </a:bodyPr>
          <a:lstStyle/>
          <a:p>
            <a:pPr algn="ctr" indent="0" marL="0">
              <a:buNone/>
            </a:pPr>
            <a:r>
              <a:rPr lang="en-US" sz="1400" b="1" dirty="0">
                <a:solidFill>
                  <a:srgbClr val="F7FAFC"/>
                </a:solidFill>
                <a:latin typeface="Cairo ExtraBold" pitchFamily="34" charset="0"/>
                <a:ea typeface="Cairo ExtraBold" pitchFamily="34" charset="-122"/>
                <a:cs typeface="Cairo ExtraBold" pitchFamily="34" charset="-120"/>
              </a:rPr>
              <a:t>صفحة طلب أساسية</a:t>
            </a:r>
            <a:endParaRPr lang="en-US" sz="1400" dirty="0"/>
          </a:p>
        </p:txBody>
      </p:sp>
      <p:sp>
        <p:nvSpPr>
          <p:cNvPr id="8" name="Text 5"/>
          <p:cNvSpPr/>
          <p:nvPr/>
        </p:nvSpPr>
        <p:spPr>
          <a:xfrm>
            <a:off x="6029325" y="1978093"/>
            <a:ext cx="2314575" cy="267891"/>
          </a:xfrm>
          <a:prstGeom prst="rect">
            <a:avLst/>
          </a:prstGeom>
          <a:noFill/>
          <a:ln/>
        </p:spPr>
        <p:txBody>
          <a:bodyPr wrap="square" lIns="0" tIns="0" rIns="0" bIns="0" rtlCol="0" anchor="t">
            <a:spAutoFit/>
          </a:bodyPr>
          <a:lstStyle/>
          <a:p>
            <a:pPr algn="l" indent="0" marL="0">
              <a:buNone/>
            </a:pPr>
            <a:r>
              <a:rPr lang="en-US" sz="1000" b="1" dirty="0">
                <a:solidFill>
                  <a:srgbClr val="D69E2E"/>
                </a:solidFill>
                <a:latin typeface="Cairo ExtraBold" pitchFamily="34" charset="0"/>
                <a:ea typeface="Cairo ExtraBold" pitchFamily="34" charset="-122"/>
                <a:cs typeface="Cairo ExtraBold" pitchFamily="34" charset="-120"/>
              </a:rPr>
              <a:t>المكونات</a:t>
            </a:r>
            <a:endParaRPr lang="en-US" sz="1000" dirty="0"/>
          </a:p>
        </p:txBody>
      </p:sp>
      <p:pic>
        <p:nvPicPr>
          <p:cNvPr id="9" name="Image 1" descr="preencoded.png">    </p:cNvPr>
          <p:cNvPicPr>
            <a:picLocks noChangeAspect="1"/>
          </p:cNvPicPr>
          <p:nvPr/>
        </p:nvPicPr>
        <p:blipFill>
          <a:blip r:embed="rId2"/>
          <a:stretch>
            <a:fillRect/>
          </a:stretch>
        </p:blipFill>
        <p:spPr>
          <a:xfrm>
            <a:off x="8229600" y="2317421"/>
            <a:ext cx="114300" cy="114300"/>
          </a:xfrm>
          <a:prstGeom prst="rect">
            <a:avLst/>
          </a:prstGeom>
        </p:spPr>
      </p:pic>
      <p:sp>
        <p:nvSpPr>
          <p:cNvPr id="10" name="Text 6"/>
          <p:cNvSpPr/>
          <p:nvPr/>
        </p:nvSpPr>
        <p:spPr>
          <a:xfrm>
            <a:off x="7083028" y="2288846"/>
            <a:ext cx="1075134" cy="214313"/>
          </a:xfrm>
          <a:prstGeom prst="rect">
            <a:avLst/>
          </a:prstGeom>
          <a:noFill/>
          <a:ln/>
        </p:spPr>
        <p:txBody>
          <a:bodyPr wrap="none" lIns="0" tIns="0" rIns="0" bIns="0" rtlCol="0" anchor="t">
            <a:spAutoFit/>
          </a:bodyPr>
          <a:lstStyle/>
          <a:p>
            <a:pPr algn="r" indent="0" marL="0">
              <a:lnSpc>
                <a:spcPct val="120000"/>
              </a:lnSpc>
              <a:buNone/>
            </a:pPr>
            <a:r>
              <a:rPr lang="en-US" sz="1050" dirty="0">
                <a:solidFill>
                  <a:srgbClr val="1A202C"/>
                </a:solidFill>
                <a:latin typeface="Cairo Light" pitchFamily="34" charset="0"/>
                <a:ea typeface="Cairo Light" pitchFamily="34" charset="-122"/>
                <a:cs typeface="Cairo Light" pitchFamily="34" charset="-120"/>
              </a:rPr>
              <a:t>صفحة هبوط ومنيو</a:t>
            </a:r>
            <a:endParaRPr lang="en-US" sz="1050" dirty="0"/>
          </a:p>
        </p:txBody>
      </p:sp>
      <p:pic>
        <p:nvPicPr>
          <p:cNvPr id="11" name="Image 2" descr="preencoded.png">    </p:cNvPr>
          <p:cNvPicPr>
            <a:picLocks noChangeAspect="1"/>
          </p:cNvPicPr>
          <p:nvPr/>
        </p:nvPicPr>
        <p:blipFill>
          <a:blip r:embed="rId3"/>
          <a:stretch>
            <a:fillRect/>
          </a:stretch>
        </p:blipFill>
        <p:spPr>
          <a:xfrm>
            <a:off x="8229600" y="2574596"/>
            <a:ext cx="114300" cy="114300"/>
          </a:xfrm>
          <a:prstGeom prst="rect">
            <a:avLst/>
          </a:prstGeom>
        </p:spPr>
      </p:pic>
      <p:sp>
        <p:nvSpPr>
          <p:cNvPr id="12" name="Text 7"/>
          <p:cNvSpPr/>
          <p:nvPr/>
        </p:nvSpPr>
        <p:spPr>
          <a:xfrm>
            <a:off x="7365206" y="2546021"/>
            <a:ext cx="792956" cy="214313"/>
          </a:xfrm>
          <a:prstGeom prst="rect">
            <a:avLst/>
          </a:prstGeom>
          <a:noFill/>
          <a:ln/>
        </p:spPr>
        <p:txBody>
          <a:bodyPr wrap="none" lIns="0" tIns="0" rIns="0" bIns="0" rtlCol="0" anchor="t">
            <a:spAutoFit/>
          </a:bodyPr>
          <a:lstStyle/>
          <a:p>
            <a:pPr algn="r" indent="0" marL="0">
              <a:lnSpc>
                <a:spcPct val="120000"/>
              </a:lnSpc>
              <a:buNone/>
            </a:pPr>
            <a:r>
              <a:rPr lang="en-US" sz="1050" dirty="0">
                <a:solidFill>
                  <a:srgbClr val="1A202C"/>
                </a:solidFill>
                <a:latin typeface="Cairo Light" pitchFamily="34" charset="0"/>
                <a:ea typeface="Cairo Light" pitchFamily="34" charset="-122"/>
                <a:cs typeface="Cairo Light" pitchFamily="34" charset="-120"/>
              </a:rPr>
              <a:t>زر طلب واتساب</a:t>
            </a:r>
            <a:endParaRPr lang="en-US" sz="1050" dirty="0"/>
          </a:p>
        </p:txBody>
      </p:sp>
      <p:pic>
        <p:nvPicPr>
          <p:cNvPr id="13" name="Image 3" descr="preencoded.png">    </p:cNvPr>
          <p:cNvPicPr>
            <a:picLocks noChangeAspect="1"/>
          </p:cNvPicPr>
          <p:nvPr/>
        </p:nvPicPr>
        <p:blipFill>
          <a:blip r:embed="rId4"/>
          <a:stretch>
            <a:fillRect/>
          </a:stretch>
        </p:blipFill>
        <p:spPr>
          <a:xfrm>
            <a:off x="8229600" y="2831771"/>
            <a:ext cx="114300" cy="114300"/>
          </a:xfrm>
          <a:prstGeom prst="rect">
            <a:avLst/>
          </a:prstGeom>
        </p:spPr>
      </p:pic>
      <p:sp>
        <p:nvSpPr>
          <p:cNvPr id="14" name="Text 8"/>
          <p:cNvSpPr/>
          <p:nvPr/>
        </p:nvSpPr>
        <p:spPr>
          <a:xfrm>
            <a:off x="7397353" y="2803196"/>
            <a:ext cx="760809" cy="214313"/>
          </a:xfrm>
          <a:prstGeom prst="rect">
            <a:avLst/>
          </a:prstGeom>
          <a:noFill/>
          <a:ln/>
        </p:spPr>
        <p:txBody>
          <a:bodyPr wrap="none" lIns="0" tIns="0" rIns="0" bIns="0" rtlCol="0" anchor="t">
            <a:spAutoFit/>
          </a:bodyPr>
          <a:lstStyle/>
          <a:p>
            <a:pPr algn="r" indent="0" marL="0">
              <a:lnSpc>
                <a:spcPct val="120000"/>
              </a:lnSpc>
              <a:buNone/>
            </a:pPr>
            <a:r>
              <a:rPr lang="en-US" sz="1050" dirty="0">
                <a:solidFill>
                  <a:srgbClr val="1A202C"/>
                </a:solidFill>
                <a:latin typeface="Cairo Light" pitchFamily="34" charset="0"/>
                <a:ea typeface="Cairo Light" pitchFamily="34" charset="-122"/>
                <a:cs typeface="Cairo Light" pitchFamily="34" charset="-120"/>
              </a:rPr>
              <a:t>زر اتصال مباشر</a:t>
            </a:r>
            <a:endParaRPr lang="en-US" sz="1050" dirty="0"/>
          </a:p>
        </p:txBody>
      </p:sp>
      <p:pic>
        <p:nvPicPr>
          <p:cNvPr id="15" name="Image 4" descr="preencoded.png">    </p:cNvPr>
          <p:cNvPicPr>
            <a:picLocks noChangeAspect="1"/>
          </p:cNvPicPr>
          <p:nvPr/>
        </p:nvPicPr>
        <p:blipFill>
          <a:blip r:embed="rId5"/>
          <a:stretch>
            <a:fillRect/>
          </a:stretch>
        </p:blipFill>
        <p:spPr>
          <a:xfrm>
            <a:off x="8229600" y="3088946"/>
            <a:ext cx="114300" cy="114300"/>
          </a:xfrm>
          <a:prstGeom prst="rect">
            <a:avLst/>
          </a:prstGeom>
        </p:spPr>
      </p:pic>
      <p:sp>
        <p:nvSpPr>
          <p:cNvPr id="16" name="Text 9"/>
          <p:cNvSpPr/>
          <p:nvPr/>
        </p:nvSpPr>
        <p:spPr>
          <a:xfrm>
            <a:off x="6947297" y="3060371"/>
            <a:ext cx="1210866" cy="214313"/>
          </a:xfrm>
          <a:prstGeom prst="rect">
            <a:avLst/>
          </a:prstGeom>
          <a:noFill/>
          <a:ln/>
        </p:spPr>
        <p:txBody>
          <a:bodyPr wrap="none" lIns="0" tIns="0" rIns="0" bIns="0" rtlCol="0" anchor="t">
            <a:spAutoFit/>
          </a:bodyPr>
          <a:lstStyle/>
          <a:p>
            <a:pPr algn="r" indent="0" marL="0">
              <a:lnSpc>
                <a:spcPct val="120000"/>
              </a:lnSpc>
              <a:buNone/>
            </a:pPr>
            <a:r>
              <a:rPr lang="en-US" sz="1050" dirty="0">
                <a:solidFill>
                  <a:srgbClr val="1A202C"/>
                </a:solidFill>
                <a:latin typeface="Cairo Light" pitchFamily="34" charset="0"/>
                <a:ea typeface="Cairo Light" pitchFamily="34" charset="-122"/>
                <a:cs typeface="Cairo Light" pitchFamily="34" charset="-120"/>
              </a:rPr>
              <a:t>خريطة وساعات العمل</a:t>
            </a:r>
            <a:endParaRPr lang="en-US" sz="1050" dirty="0"/>
          </a:p>
        </p:txBody>
      </p:sp>
      <p:sp>
        <p:nvSpPr>
          <p:cNvPr id="17" name="Shape 10"/>
          <p:cNvSpPr/>
          <p:nvPr/>
        </p:nvSpPr>
        <p:spPr>
          <a:xfrm>
            <a:off x="5943600" y="3503284"/>
            <a:ext cx="2486025" cy="425053"/>
          </a:xfrm>
          <a:prstGeom prst="rect">
            <a:avLst/>
          </a:prstGeom>
          <a:solidFill>
            <a:srgbClr val="E2E8F0"/>
          </a:solidFill>
          <a:ln/>
        </p:spPr>
      </p:sp>
      <p:sp>
        <p:nvSpPr>
          <p:cNvPr id="18" name="Shape 11"/>
          <p:cNvSpPr/>
          <p:nvPr/>
        </p:nvSpPr>
        <p:spPr>
          <a:xfrm>
            <a:off x="5943600" y="3503284"/>
            <a:ext cx="2486025" cy="14288"/>
          </a:xfrm>
          <a:prstGeom prst="rect">
            <a:avLst/>
          </a:prstGeom>
          <a:solidFill>
            <a:srgbClr val="1A202C"/>
          </a:solidFill>
          <a:ln/>
        </p:spPr>
      </p:sp>
      <p:sp>
        <p:nvSpPr>
          <p:cNvPr id="19" name="Text 12"/>
          <p:cNvSpPr/>
          <p:nvPr/>
        </p:nvSpPr>
        <p:spPr>
          <a:xfrm>
            <a:off x="5943600" y="3503284"/>
            <a:ext cx="2486025" cy="425053"/>
          </a:xfrm>
          <a:prstGeom prst="rect">
            <a:avLst/>
          </a:prstGeom>
          <a:noFill/>
          <a:ln/>
        </p:spPr>
        <p:txBody>
          <a:bodyPr wrap="square" lIns="85090" tIns="85090" rIns="85090" bIns="85090" rtlCol="0" anchor="t">
            <a:spAutoFit/>
          </a:bodyPr>
          <a:lstStyle/>
          <a:p>
            <a:pPr algn="ctr" indent="0" marL="0">
              <a:buNone/>
            </a:pPr>
            <a:r>
              <a:rPr lang="en-US" sz="1000" b="1" dirty="0">
                <a:solidFill>
                  <a:srgbClr val="1A202C"/>
                </a:solidFill>
                <a:latin typeface="Cairo ExtraBold" pitchFamily="34" charset="0"/>
                <a:ea typeface="Cairo ExtraBold" pitchFamily="34" charset="-122"/>
                <a:cs typeface="Cairo ExtraBold" pitchFamily="34" charset="-120"/>
              </a:rPr>
              <a:t>بداية سريعة للمطعم المحلي</a:t>
            </a:r>
            <a:endParaRPr lang="en-US" sz="1000" dirty="0"/>
          </a:p>
        </p:txBody>
      </p:sp>
      <p:sp>
        <p:nvSpPr>
          <p:cNvPr id="20" name="Shape 13"/>
          <p:cNvSpPr/>
          <p:nvPr/>
        </p:nvSpPr>
        <p:spPr>
          <a:xfrm>
            <a:off x="3328988" y="1345871"/>
            <a:ext cx="2486025" cy="2582466"/>
          </a:xfrm>
          <a:prstGeom prst="rect">
            <a:avLst/>
          </a:prstGeom>
          <a:solidFill>
            <a:srgbClr val="F7FAFC"/>
          </a:solidFill>
          <a:ln w="18288">
            <a:solidFill>
              <a:srgbClr val="1A202C"/>
            </a:solidFill>
            <a:prstDash val="solid"/>
          </a:ln>
        </p:spPr>
      </p:sp>
      <p:sp>
        <p:nvSpPr>
          <p:cNvPr id="21" name="Shape 14"/>
          <p:cNvSpPr/>
          <p:nvPr/>
        </p:nvSpPr>
        <p:spPr>
          <a:xfrm>
            <a:off x="3328988" y="1345871"/>
            <a:ext cx="2486025" cy="575072"/>
          </a:xfrm>
          <a:prstGeom prst="rect">
            <a:avLst/>
          </a:prstGeom>
          <a:solidFill>
            <a:srgbClr val="1A202C"/>
          </a:solidFill>
          <a:ln/>
        </p:spPr>
      </p:sp>
      <p:sp>
        <p:nvSpPr>
          <p:cNvPr id="22" name="Shape 15"/>
          <p:cNvSpPr/>
          <p:nvPr/>
        </p:nvSpPr>
        <p:spPr>
          <a:xfrm>
            <a:off x="3328988" y="1892368"/>
            <a:ext cx="2486025" cy="28575"/>
          </a:xfrm>
          <a:prstGeom prst="rect">
            <a:avLst/>
          </a:prstGeom>
          <a:solidFill>
            <a:srgbClr val="D69E2E"/>
          </a:solidFill>
          <a:ln/>
        </p:spPr>
      </p:sp>
      <p:sp>
        <p:nvSpPr>
          <p:cNvPr id="23" name="Text 16"/>
          <p:cNvSpPr/>
          <p:nvPr/>
        </p:nvSpPr>
        <p:spPr>
          <a:xfrm>
            <a:off x="3414713" y="1431596"/>
            <a:ext cx="2314575" cy="375047"/>
          </a:xfrm>
          <a:prstGeom prst="rect">
            <a:avLst/>
          </a:prstGeom>
          <a:noFill/>
          <a:ln/>
        </p:spPr>
        <p:txBody>
          <a:bodyPr wrap="square" lIns="0" tIns="0" rIns="0" bIns="0" rtlCol="0" anchor="t">
            <a:spAutoFit/>
          </a:bodyPr>
          <a:lstStyle/>
          <a:p>
            <a:pPr algn="ctr" indent="0" marL="0">
              <a:buNone/>
            </a:pPr>
            <a:r>
              <a:rPr lang="en-US" sz="1400" b="1" dirty="0">
                <a:solidFill>
                  <a:srgbClr val="F7FAFC"/>
                </a:solidFill>
                <a:latin typeface="Cairo ExtraBold" pitchFamily="34" charset="0"/>
                <a:ea typeface="Cairo ExtraBold" pitchFamily="34" charset="-122"/>
                <a:cs typeface="Cairo ExtraBold" pitchFamily="34" charset="-120"/>
              </a:rPr>
              <a:t>صفحة مبيعات</a:t>
            </a:r>
            <a:endParaRPr lang="en-US" sz="1400" dirty="0"/>
          </a:p>
        </p:txBody>
      </p:sp>
      <p:sp>
        <p:nvSpPr>
          <p:cNvPr id="24" name="Text 17"/>
          <p:cNvSpPr/>
          <p:nvPr/>
        </p:nvSpPr>
        <p:spPr>
          <a:xfrm>
            <a:off x="3414713" y="1978093"/>
            <a:ext cx="2314575" cy="267891"/>
          </a:xfrm>
          <a:prstGeom prst="rect">
            <a:avLst/>
          </a:prstGeom>
          <a:noFill/>
          <a:ln/>
        </p:spPr>
        <p:txBody>
          <a:bodyPr wrap="square" lIns="0" tIns="0" rIns="0" bIns="0" rtlCol="0" anchor="t">
            <a:spAutoFit/>
          </a:bodyPr>
          <a:lstStyle/>
          <a:p>
            <a:pPr algn="l" indent="0" marL="0">
              <a:buNone/>
            </a:pPr>
            <a:r>
              <a:rPr lang="en-US" sz="1000" b="1" dirty="0">
                <a:solidFill>
                  <a:srgbClr val="D69E2E"/>
                </a:solidFill>
                <a:latin typeface="Cairo ExtraBold" pitchFamily="34" charset="0"/>
                <a:ea typeface="Cairo ExtraBold" pitchFamily="34" charset="-122"/>
                <a:cs typeface="Cairo ExtraBold" pitchFamily="34" charset="-120"/>
              </a:rPr>
              <a:t>المكونات</a:t>
            </a:r>
            <a:endParaRPr lang="en-US" sz="1000" dirty="0"/>
          </a:p>
        </p:txBody>
      </p:sp>
      <p:pic>
        <p:nvPicPr>
          <p:cNvPr id="25" name="Image 5" descr="preencoded.png">    </p:cNvPr>
          <p:cNvPicPr>
            <a:picLocks noChangeAspect="1"/>
          </p:cNvPicPr>
          <p:nvPr/>
        </p:nvPicPr>
        <p:blipFill>
          <a:blip r:embed="rId6"/>
          <a:stretch>
            <a:fillRect/>
          </a:stretch>
        </p:blipFill>
        <p:spPr>
          <a:xfrm>
            <a:off x="5614988" y="2317421"/>
            <a:ext cx="114300" cy="114300"/>
          </a:xfrm>
          <a:prstGeom prst="rect">
            <a:avLst/>
          </a:prstGeom>
        </p:spPr>
      </p:pic>
      <p:sp>
        <p:nvSpPr>
          <p:cNvPr id="26" name="Text 18"/>
          <p:cNvSpPr/>
          <p:nvPr/>
        </p:nvSpPr>
        <p:spPr>
          <a:xfrm>
            <a:off x="4025503" y="2288846"/>
            <a:ext cx="1518047" cy="214313"/>
          </a:xfrm>
          <a:prstGeom prst="rect">
            <a:avLst/>
          </a:prstGeom>
          <a:noFill/>
          <a:ln/>
        </p:spPr>
        <p:txBody>
          <a:bodyPr wrap="none" lIns="0" tIns="0" rIns="0" bIns="0" rtlCol="0" anchor="t">
            <a:spAutoFit/>
          </a:bodyPr>
          <a:lstStyle/>
          <a:p>
            <a:pPr algn="r" indent="0" marL="0">
              <a:lnSpc>
                <a:spcPct val="120000"/>
              </a:lnSpc>
              <a:buNone/>
            </a:pPr>
            <a:r>
              <a:rPr lang="en-US" sz="1050" dirty="0">
                <a:solidFill>
                  <a:srgbClr val="1A202C"/>
                </a:solidFill>
                <a:latin typeface="Cairo Light" pitchFamily="34" charset="0"/>
                <a:ea typeface="Cairo Light" pitchFamily="34" charset="-122"/>
                <a:cs typeface="Cairo Light" pitchFamily="34" charset="-120"/>
              </a:rPr>
              <a:t>كل مكونات الباقة الأساسية</a:t>
            </a:r>
            <a:endParaRPr lang="en-US" sz="1050" dirty="0"/>
          </a:p>
        </p:txBody>
      </p:sp>
      <p:pic>
        <p:nvPicPr>
          <p:cNvPr id="27" name="Image 6" descr="preencoded.png">    </p:cNvPr>
          <p:cNvPicPr>
            <a:picLocks noChangeAspect="1"/>
          </p:cNvPicPr>
          <p:nvPr/>
        </p:nvPicPr>
        <p:blipFill>
          <a:blip r:embed="rId7"/>
          <a:stretch>
            <a:fillRect/>
          </a:stretch>
        </p:blipFill>
        <p:spPr>
          <a:xfrm>
            <a:off x="5614988" y="2574596"/>
            <a:ext cx="114300" cy="114300"/>
          </a:xfrm>
          <a:prstGeom prst="rect">
            <a:avLst/>
          </a:prstGeom>
        </p:spPr>
      </p:pic>
      <p:sp>
        <p:nvSpPr>
          <p:cNvPr id="28" name="Text 19"/>
          <p:cNvSpPr/>
          <p:nvPr/>
        </p:nvSpPr>
        <p:spPr>
          <a:xfrm>
            <a:off x="3843338" y="2546021"/>
            <a:ext cx="1700213" cy="214313"/>
          </a:xfrm>
          <a:prstGeom prst="rect">
            <a:avLst/>
          </a:prstGeom>
          <a:noFill/>
          <a:ln/>
        </p:spPr>
        <p:txBody>
          <a:bodyPr wrap="none" lIns="0" tIns="0" rIns="0" bIns="0" rtlCol="0" anchor="t">
            <a:spAutoFit/>
          </a:bodyPr>
          <a:lstStyle/>
          <a:p>
            <a:pPr algn="r" indent="0" marL="0">
              <a:lnSpc>
                <a:spcPct val="120000"/>
              </a:lnSpc>
              <a:buNone/>
            </a:pPr>
            <a:r>
              <a:rPr lang="en-US" sz="1050" dirty="0">
                <a:solidFill>
                  <a:srgbClr val="1A202C"/>
                </a:solidFill>
                <a:latin typeface="Cairo Light" pitchFamily="34" charset="0"/>
                <a:ea typeface="Cairo Light" pitchFamily="34" charset="-122"/>
                <a:cs typeface="Cairo Light" pitchFamily="34" charset="-120"/>
              </a:rPr>
              <a:t>قسم العروض وأفضل المبيعات</a:t>
            </a:r>
            <a:endParaRPr lang="en-US" sz="1050" dirty="0"/>
          </a:p>
        </p:txBody>
      </p:sp>
      <p:pic>
        <p:nvPicPr>
          <p:cNvPr id="29" name="Image 7" descr="preencoded.png">    </p:cNvPr>
          <p:cNvPicPr>
            <a:picLocks noChangeAspect="1"/>
          </p:cNvPicPr>
          <p:nvPr/>
        </p:nvPicPr>
        <p:blipFill>
          <a:blip r:embed="rId8"/>
          <a:stretch>
            <a:fillRect/>
          </a:stretch>
        </p:blipFill>
        <p:spPr>
          <a:xfrm>
            <a:off x="5614988" y="2831771"/>
            <a:ext cx="114300" cy="114300"/>
          </a:xfrm>
          <a:prstGeom prst="rect">
            <a:avLst/>
          </a:prstGeom>
        </p:spPr>
      </p:pic>
      <p:sp>
        <p:nvSpPr>
          <p:cNvPr id="30" name="Text 20"/>
          <p:cNvSpPr/>
          <p:nvPr/>
        </p:nvSpPr>
        <p:spPr>
          <a:xfrm>
            <a:off x="4629150" y="2803196"/>
            <a:ext cx="914400" cy="214313"/>
          </a:xfrm>
          <a:prstGeom prst="rect">
            <a:avLst/>
          </a:prstGeom>
          <a:noFill/>
          <a:ln/>
        </p:spPr>
        <p:txBody>
          <a:bodyPr wrap="none" lIns="0" tIns="0" rIns="0" bIns="0" rtlCol="0" anchor="t">
            <a:spAutoFit/>
          </a:bodyPr>
          <a:lstStyle/>
          <a:p>
            <a:pPr algn="r" indent="0" marL="0">
              <a:lnSpc>
                <a:spcPct val="120000"/>
              </a:lnSpc>
              <a:buNone/>
            </a:pPr>
            <a:r>
              <a:rPr lang="en-US" sz="1050" dirty="0">
                <a:solidFill>
                  <a:srgbClr val="1A202C"/>
                </a:solidFill>
                <a:latin typeface="Cairo Light" pitchFamily="34" charset="0"/>
                <a:ea typeface="Cairo Light" pitchFamily="34" charset="-122"/>
                <a:cs typeface="Cairo Light" pitchFamily="34" charset="-120"/>
              </a:rPr>
              <a:t>نظام كود الخصم</a:t>
            </a:r>
            <a:endParaRPr lang="en-US" sz="1050" dirty="0"/>
          </a:p>
        </p:txBody>
      </p:sp>
      <p:pic>
        <p:nvPicPr>
          <p:cNvPr id="31" name="Image 8" descr="preencoded.png">    </p:cNvPr>
          <p:cNvPicPr>
            <a:picLocks noChangeAspect="1"/>
          </p:cNvPicPr>
          <p:nvPr/>
        </p:nvPicPr>
        <p:blipFill>
          <a:blip r:embed="rId9"/>
          <a:stretch>
            <a:fillRect/>
          </a:stretch>
        </p:blipFill>
        <p:spPr>
          <a:xfrm>
            <a:off x="5614988" y="3088946"/>
            <a:ext cx="114300" cy="114300"/>
          </a:xfrm>
          <a:prstGeom prst="rect">
            <a:avLst/>
          </a:prstGeom>
        </p:spPr>
      </p:pic>
      <p:sp>
        <p:nvSpPr>
          <p:cNvPr id="32" name="Text 21"/>
          <p:cNvSpPr/>
          <p:nvPr/>
        </p:nvSpPr>
        <p:spPr>
          <a:xfrm>
            <a:off x="3979069" y="3060371"/>
            <a:ext cx="1564481" cy="214313"/>
          </a:xfrm>
          <a:prstGeom prst="rect">
            <a:avLst/>
          </a:prstGeom>
          <a:noFill/>
          <a:ln/>
        </p:spPr>
        <p:txBody>
          <a:bodyPr wrap="none" lIns="0" tIns="0" rIns="0" bIns="0" rtlCol="0" anchor="t">
            <a:spAutoFit/>
          </a:bodyPr>
          <a:lstStyle/>
          <a:p>
            <a:pPr algn="r" indent="0" marL="0">
              <a:lnSpc>
                <a:spcPct val="120000"/>
              </a:lnSpc>
              <a:buNone/>
            </a:pPr>
            <a:r>
              <a:rPr lang="en-US" sz="1050" dirty="0">
                <a:solidFill>
                  <a:srgbClr val="1A202C"/>
                </a:solidFill>
                <a:latin typeface="Cairo Light" pitchFamily="34" charset="0"/>
                <a:ea typeface="Cairo Light" pitchFamily="34" charset="-122"/>
                <a:cs typeface="Cairo Light" pitchFamily="34" charset="-120"/>
              </a:rPr>
              <a:t>مناطق التوصيل وتتبع النقرات</a:t>
            </a:r>
            <a:endParaRPr lang="en-US" sz="1050" dirty="0"/>
          </a:p>
        </p:txBody>
      </p:sp>
      <p:sp>
        <p:nvSpPr>
          <p:cNvPr id="33" name="Shape 22"/>
          <p:cNvSpPr/>
          <p:nvPr/>
        </p:nvSpPr>
        <p:spPr>
          <a:xfrm>
            <a:off x="3328988" y="3503284"/>
            <a:ext cx="2486025" cy="425053"/>
          </a:xfrm>
          <a:prstGeom prst="rect">
            <a:avLst/>
          </a:prstGeom>
          <a:solidFill>
            <a:srgbClr val="E2E8F0"/>
          </a:solidFill>
          <a:ln/>
        </p:spPr>
      </p:sp>
      <p:sp>
        <p:nvSpPr>
          <p:cNvPr id="34" name="Shape 23"/>
          <p:cNvSpPr/>
          <p:nvPr/>
        </p:nvSpPr>
        <p:spPr>
          <a:xfrm>
            <a:off x="3328988" y="3503284"/>
            <a:ext cx="2486025" cy="14288"/>
          </a:xfrm>
          <a:prstGeom prst="rect">
            <a:avLst/>
          </a:prstGeom>
          <a:solidFill>
            <a:srgbClr val="1A202C"/>
          </a:solidFill>
          <a:ln/>
        </p:spPr>
      </p:sp>
      <p:sp>
        <p:nvSpPr>
          <p:cNvPr id="35" name="Text 24"/>
          <p:cNvSpPr/>
          <p:nvPr/>
        </p:nvSpPr>
        <p:spPr>
          <a:xfrm>
            <a:off x="3328988" y="3503284"/>
            <a:ext cx="2486025" cy="425053"/>
          </a:xfrm>
          <a:prstGeom prst="rect">
            <a:avLst/>
          </a:prstGeom>
          <a:noFill/>
          <a:ln/>
        </p:spPr>
        <p:txBody>
          <a:bodyPr wrap="square" lIns="85090" tIns="85090" rIns="85090" bIns="85090" rtlCol="0" anchor="t">
            <a:spAutoFit/>
          </a:bodyPr>
          <a:lstStyle/>
          <a:p>
            <a:pPr algn="ctr" indent="0" marL="0">
              <a:buNone/>
            </a:pPr>
            <a:r>
              <a:rPr lang="en-US" sz="1000" b="1" dirty="0">
                <a:solidFill>
                  <a:srgbClr val="1A202C"/>
                </a:solidFill>
                <a:latin typeface="Cairo ExtraBold" pitchFamily="34" charset="0"/>
                <a:ea typeface="Cairo ExtraBold" pitchFamily="34" charset="-122"/>
                <a:cs typeface="Cairo ExtraBold" pitchFamily="34" charset="-120"/>
              </a:rPr>
              <a:t>مطعم لديه دليفري نشط</a:t>
            </a:r>
            <a:endParaRPr lang="en-US" sz="1000" dirty="0"/>
          </a:p>
        </p:txBody>
      </p:sp>
      <p:sp>
        <p:nvSpPr>
          <p:cNvPr id="36" name="Shape 25"/>
          <p:cNvSpPr/>
          <p:nvPr/>
        </p:nvSpPr>
        <p:spPr>
          <a:xfrm>
            <a:off x="714375" y="1345871"/>
            <a:ext cx="2486025" cy="2582466"/>
          </a:xfrm>
          <a:prstGeom prst="rect">
            <a:avLst/>
          </a:prstGeom>
          <a:solidFill>
            <a:srgbClr val="F7FAFC"/>
          </a:solidFill>
          <a:ln w="18288">
            <a:solidFill>
              <a:srgbClr val="1A202C"/>
            </a:solidFill>
            <a:prstDash val="solid"/>
          </a:ln>
        </p:spPr>
      </p:sp>
      <p:sp>
        <p:nvSpPr>
          <p:cNvPr id="37" name="Shape 26"/>
          <p:cNvSpPr/>
          <p:nvPr/>
        </p:nvSpPr>
        <p:spPr>
          <a:xfrm>
            <a:off x="714375" y="1345871"/>
            <a:ext cx="2486025" cy="575072"/>
          </a:xfrm>
          <a:prstGeom prst="rect">
            <a:avLst/>
          </a:prstGeom>
          <a:solidFill>
            <a:srgbClr val="1A202C"/>
          </a:solidFill>
          <a:ln/>
        </p:spPr>
      </p:sp>
      <p:sp>
        <p:nvSpPr>
          <p:cNvPr id="38" name="Shape 27"/>
          <p:cNvSpPr/>
          <p:nvPr/>
        </p:nvSpPr>
        <p:spPr>
          <a:xfrm>
            <a:off x="714375" y="1892368"/>
            <a:ext cx="2486025" cy="28575"/>
          </a:xfrm>
          <a:prstGeom prst="rect">
            <a:avLst/>
          </a:prstGeom>
          <a:solidFill>
            <a:srgbClr val="D69E2E"/>
          </a:solidFill>
          <a:ln/>
        </p:spPr>
      </p:sp>
      <p:sp>
        <p:nvSpPr>
          <p:cNvPr id="39" name="Text 28"/>
          <p:cNvSpPr/>
          <p:nvPr/>
        </p:nvSpPr>
        <p:spPr>
          <a:xfrm>
            <a:off x="800100" y="1431596"/>
            <a:ext cx="2314575" cy="375047"/>
          </a:xfrm>
          <a:prstGeom prst="rect">
            <a:avLst/>
          </a:prstGeom>
          <a:noFill/>
          <a:ln/>
        </p:spPr>
        <p:txBody>
          <a:bodyPr wrap="square" lIns="0" tIns="0" rIns="0" bIns="0" rtlCol="0" anchor="t">
            <a:spAutoFit/>
          </a:bodyPr>
          <a:lstStyle/>
          <a:p>
            <a:pPr algn="ctr" indent="0" marL="0">
              <a:buNone/>
            </a:pPr>
            <a:r>
              <a:rPr lang="en-US" sz="1400" b="1" dirty="0">
                <a:solidFill>
                  <a:srgbClr val="F7FAFC"/>
                </a:solidFill>
                <a:latin typeface="Cairo ExtraBold" pitchFamily="34" charset="0"/>
                <a:ea typeface="Cairo ExtraBold" pitchFamily="34" charset="-122"/>
                <a:cs typeface="Cairo ExtraBold" pitchFamily="34" charset="-120"/>
              </a:rPr>
              <a:t>نمو رقمي مستمر</a:t>
            </a:r>
            <a:endParaRPr lang="en-US" sz="1400" dirty="0"/>
          </a:p>
        </p:txBody>
      </p:sp>
      <p:sp>
        <p:nvSpPr>
          <p:cNvPr id="40" name="Text 29"/>
          <p:cNvSpPr/>
          <p:nvPr/>
        </p:nvSpPr>
        <p:spPr>
          <a:xfrm>
            <a:off x="800100" y="1978093"/>
            <a:ext cx="2314575" cy="267891"/>
          </a:xfrm>
          <a:prstGeom prst="rect">
            <a:avLst/>
          </a:prstGeom>
          <a:noFill/>
          <a:ln/>
        </p:spPr>
        <p:txBody>
          <a:bodyPr wrap="square" lIns="0" tIns="0" rIns="0" bIns="0" rtlCol="0" anchor="t">
            <a:spAutoFit/>
          </a:bodyPr>
          <a:lstStyle/>
          <a:p>
            <a:pPr algn="l" indent="0" marL="0">
              <a:buNone/>
            </a:pPr>
            <a:r>
              <a:rPr lang="en-US" sz="1000" b="1" dirty="0">
                <a:solidFill>
                  <a:srgbClr val="D69E2E"/>
                </a:solidFill>
                <a:latin typeface="Cairo ExtraBold" pitchFamily="34" charset="0"/>
                <a:ea typeface="Cairo ExtraBold" pitchFamily="34" charset="-122"/>
                <a:cs typeface="Cairo ExtraBold" pitchFamily="34" charset="-120"/>
              </a:rPr>
              <a:t>المكونات</a:t>
            </a:r>
            <a:endParaRPr lang="en-US" sz="1000" dirty="0"/>
          </a:p>
        </p:txBody>
      </p:sp>
      <p:pic>
        <p:nvPicPr>
          <p:cNvPr id="41" name="Image 9" descr="preencoded.png">    </p:cNvPr>
          <p:cNvPicPr>
            <a:picLocks noChangeAspect="1"/>
          </p:cNvPicPr>
          <p:nvPr/>
        </p:nvPicPr>
        <p:blipFill>
          <a:blip r:embed="rId10"/>
          <a:stretch>
            <a:fillRect/>
          </a:stretch>
        </p:blipFill>
        <p:spPr>
          <a:xfrm>
            <a:off x="3000375" y="2317421"/>
            <a:ext cx="114300" cy="114300"/>
          </a:xfrm>
          <a:prstGeom prst="rect">
            <a:avLst/>
          </a:prstGeom>
        </p:spPr>
      </p:pic>
      <p:sp>
        <p:nvSpPr>
          <p:cNvPr id="42" name="Text 30"/>
          <p:cNvSpPr/>
          <p:nvPr/>
        </p:nvSpPr>
        <p:spPr>
          <a:xfrm>
            <a:off x="1775222" y="2288846"/>
            <a:ext cx="1153716" cy="214313"/>
          </a:xfrm>
          <a:prstGeom prst="rect">
            <a:avLst/>
          </a:prstGeom>
          <a:noFill/>
          <a:ln/>
        </p:spPr>
        <p:txBody>
          <a:bodyPr wrap="none" lIns="0" tIns="0" rIns="0" bIns="0" rtlCol="0" anchor="t">
            <a:spAutoFit/>
          </a:bodyPr>
          <a:lstStyle/>
          <a:p>
            <a:pPr algn="r" indent="0" marL="0">
              <a:lnSpc>
                <a:spcPct val="120000"/>
              </a:lnSpc>
              <a:buNone/>
            </a:pPr>
            <a:r>
              <a:rPr lang="en-US" sz="1050" dirty="0">
                <a:solidFill>
                  <a:srgbClr val="1A202C"/>
                </a:solidFill>
                <a:latin typeface="Cairo Light" pitchFamily="34" charset="0"/>
                <a:ea typeface="Cairo Light" pitchFamily="34" charset="-122"/>
                <a:cs typeface="Cairo Light" pitchFamily="34" charset="-120"/>
              </a:rPr>
              <a:t>تحديثات شهرية للمنيو</a:t>
            </a:r>
            <a:endParaRPr lang="en-US" sz="1050" dirty="0"/>
          </a:p>
        </p:txBody>
      </p:sp>
      <p:pic>
        <p:nvPicPr>
          <p:cNvPr id="43" name="Image 10" descr="preencoded.png">    </p:cNvPr>
          <p:cNvPicPr>
            <a:picLocks noChangeAspect="1"/>
          </p:cNvPicPr>
          <p:nvPr/>
        </p:nvPicPr>
        <p:blipFill>
          <a:blip r:embed="rId11"/>
          <a:stretch>
            <a:fillRect/>
          </a:stretch>
        </p:blipFill>
        <p:spPr>
          <a:xfrm>
            <a:off x="3000375" y="2574596"/>
            <a:ext cx="114300" cy="114300"/>
          </a:xfrm>
          <a:prstGeom prst="rect">
            <a:avLst/>
          </a:prstGeom>
        </p:spPr>
      </p:pic>
      <p:sp>
        <p:nvSpPr>
          <p:cNvPr id="44" name="Text 31"/>
          <p:cNvSpPr/>
          <p:nvPr/>
        </p:nvSpPr>
        <p:spPr>
          <a:xfrm>
            <a:off x="1696641" y="2546021"/>
            <a:ext cx="1232297" cy="214313"/>
          </a:xfrm>
          <a:prstGeom prst="rect">
            <a:avLst/>
          </a:prstGeom>
          <a:noFill/>
          <a:ln/>
        </p:spPr>
        <p:txBody>
          <a:bodyPr wrap="none" lIns="0" tIns="0" rIns="0" bIns="0" rtlCol="0" anchor="t">
            <a:spAutoFit/>
          </a:bodyPr>
          <a:lstStyle/>
          <a:p>
            <a:pPr algn="r" indent="0" marL="0">
              <a:lnSpc>
                <a:spcPct val="120000"/>
              </a:lnSpc>
              <a:buNone/>
            </a:pPr>
            <a:r>
              <a:rPr lang="en-US" sz="1050" dirty="0">
                <a:solidFill>
                  <a:srgbClr val="1A202C"/>
                </a:solidFill>
                <a:latin typeface="Cairo Light" pitchFamily="34" charset="0"/>
                <a:ea typeface="Cairo Light" pitchFamily="34" charset="-122"/>
                <a:cs typeface="Cairo Light" pitchFamily="34" charset="-120"/>
              </a:rPr>
              <a:t>إطلاق عروض وحملات</a:t>
            </a:r>
            <a:endParaRPr lang="en-US" sz="1050" dirty="0"/>
          </a:p>
        </p:txBody>
      </p:sp>
      <p:pic>
        <p:nvPicPr>
          <p:cNvPr id="45" name="Image 11" descr="preencoded.png">    </p:cNvPr>
          <p:cNvPicPr>
            <a:picLocks noChangeAspect="1"/>
          </p:cNvPicPr>
          <p:nvPr/>
        </p:nvPicPr>
        <p:blipFill>
          <a:blip r:embed="rId12"/>
          <a:stretch>
            <a:fillRect/>
          </a:stretch>
        </p:blipFill>
        <p:spPr>
          <a:xfrm>
            <a:off x="3000375" y="2831771"/>
            <a:ext cx="114300" cy="114300"/>
          </a:xfrm>
          <a:prstGeom prst="rect">
            <a:avLst/>
          </a:prstGeom>
        </p:spPr>
      </p:pic>
      <p:sp>
        <p:nvSpPr>
          <p:cNvPr id="46" name="Text 32"/>
          <p:cNvSpPr/>
          <p:nvPr/>
        </p:nvSpPr>
        <p:spPr>
          <a:xfrm>
            <a:off x="1989534" y="2803196"/>
            <a:ext cx="939403" cy="214313"/>
          </a:xfrm>
          <a:prstGeom prst="rect">
            <a:avLst/>
          </a:prstGeom>
          <a:noFill/>
          <a:ln/>
        </p:spPr>
        <p:txBody>
          <a:bodyPr wrap="none" lIns="0" tIns="0" rIns="0" bIns="0" rtlCol="0" anchor="t">
            <a:spAutoFit/>
          </a:bodyPr>
          <a:lstStyle/>
          <a:p>
            <a:pPr algn="r" indent="0" marL="0">
              <a:lnSpc>
                <a:spcPct val="120000"/>
              </a:lnSpc>
              <a:buNone/>
            </a:pPr>
            <a:r>
              <a:rPr lang="en-US" sz="1050" dirty="0">
                <a:solidFill>
                  <a:srgbClr val="1A202C"/>
                </a:solidFill>
                <a:latin typeface="Cairo Light" pitchFamily="34" charset="0"/>
                <a:ea typeface="Cairo Light" pitchFamily="34" charset="-122"/>
                <a:cs typeface="Cairo Light" pitchFamily="34" charset="-120"/>
              </a:rPr>
              <a:t>تقرير طلبات دوري</a:t>
            </a:r>
            <a:endParaRPr lang="en-US" sz="1050" dirty="0"/>
          </a:p>
        </p:txBody>
      </p:sp>
      <p:pic>
        <p:nvPicPr>
          <p:cNvPr id="47" name="Image 12" descr="preencoded.png">    </p:cNvPr>
          <p:cNvPicPr>
            <a:picLocks noChangeAspect="1"/>
          </p:cNvPicPr>
          <p:nvPr/>
        </p:nvPicPr>
        <p:blipFill>
          <a:blip r:embed="rId13"/>
          <a:stretch>
            <a:fillRect/>
          </a:stretch>
        </p:blipFill>
        <p:spPr>
          <a:xfrm>
            <a:off x="3000375" y="3088946"/>
            <a:ext cx="114300" cy="114300"/>
          </a:xfrm>
          <a:prstGeom prst="rect">
            <a:avLst/>
          </a:prstGeom>
        </p:spPr>
      </p:pic>
      <p:sp>
        <p:nvSpPr>
          <p:cNvPr id="48" name="Text 33"/>
          <p:cNvSpPr/>
          <p:nvPr/>
        </p:nvSpPr>
        <p:spPr>
          <a:xfrm>
            <a:off x="1468041" y="3060371"/>
            <a:ext cx="1460897" cy="214313"/>
          </a:xfrm>
          <a:prstGeom prst="rect">
            <a:avLst/>
          </a:prstGeom>
          <a:noFill/>
          <a:ln/>
        </p:spPr>
        <p:txBody>
          <a:bodyPr wrap="none" lIns="0" tIns="0" rIns="0" bIns="0" rtlCol="0" anchor="t">
            <a:spAutoFit/>
          </a:bodyPr>
          <a:lstStyle/>
          <a:p>
            <a:pPr algn="r" indent="0" marL="0">
              <a:lnSpc>
                <a:spcPct val="120000"/>
              </a:lnSpc>
              <a:buNone/>
            </a:pPr>
            <a:r>
              <a:rPr lang="en-US" sz="1050" dirty="0">
                <a:solidFill>
                  <a:srgbClr val="1A202C"/>
                </a:solidFill>
                <a:latin typeface="Cairo Light" pitchFamily="34" charset="0"/>
                <a:ea typeface="Cairo Light" pitchFamily="34" charset="-122"/>
                <a:cs typeface="Cairo Light" pitchFamily="34" charset="-120"/>
              </a:rPr>
              <a:t>تحسين صفحة خرائط جوجل</a:t>
            </a:r>
            <a:endParaRPr lang="en-US" sz="1050" dirty="0"/>
          </a:p>
        </p:txBody>
      </p:sp>
      <p:sp>
        <p:nvSpPr>
          <p:cNvPr id="49" name="Shape 34"/>
          <p:cNvSpPr/>
          <p:nvPr/>
        </p:nvSpPr>
        <p:spPr>
          <a:xfrm>
            <a:off x="714375" y="3446134"/>
            <a:ext cx="2486025" cy="425053"/>
          </a:xfrm>
          <a:prstGeom prst="rect">
            <a:avLst/>
          </a:prstGeom>
          <a:solidFill>
            <a:srgbClr val="E2E8F0"/>
          </a:solidFill>
          <a:ln/>
        </p:spPr>
      </p:sp>
      <p:sp>
        <p:nvSpPr>
          <p:cNvPr id="50" name="Shape 35"/>
          <p:cNvSpPr/>
          <p:nvPr/>
        </p:nvSpPr>
        <p:spPr>
          <a:xfrm>
            <a:off x="714375" y="3446134"/>
            <a:ext cx="2486025" cy="14288"/>
          </a:xfrm>
          <a:prstGeom prst="rect">
            <a:avLst/>
          </a:prstGeom>
          <a:solidFill>
            <a:srgbClr val="1A202C"/>
          </a:solidFill>
          <a:ln/>
        </p:spPr>
      </p:sp>
      <p:sp>
        <p:nvSpPr>
          <p:cNvPr id="51" name="Text 36"/>
          <p:cNvSpPr/>
          <p:nvPr/>
        </p:nvSpPr>
        <p:spPr>
          <a:xfrm>
            <a:off x="714375" y="3446134"/>
            <a:ext cx="2486025" cy="425053"/>
          </a:xfrm>
          <a:prstGeom prst="rect">
            <a:avLst/>
          </a:prstGeom>
          <a:noFill/>
          <a:ln/>
        </p:spPr>
        <p:txBody>
          <a:bodyPr wrap="square" lIns="85090" tIns="85090" rIns="85090" bIns="85090" rtlCol="0" anchor="t">
            <a:spAutoFit/>
          </a:bodyPr>
          <a:lstStyle/>
          <a:p>
            <a:pPr algn="ctr" indent="0" marL="0">
              <a:buNone/>
            </a:pPr>
            <a:r>
              <a:rPr lang="en-US" sz="1000" b="1" dirty="0">
                <a:solidFill>
                  <a:srgbClr val="1A202C"/>
                </a:solidFill>
                <a:latin typeface="Cairo ExtraBold" pitchFamily="34" charset="0"/>
                <a:ea typeface="Cairo ExtraBold" pitchFamily="34" charset="-122"/>
                <a:cs typeface="Cairo ExtraBold" pitchFamily="34" charset="-120"/>
              </a:rPr>
              <a:t>مطعم يريد قناة مستمرة</a:t>
            </a:r>
            <a:endParaRPr lang="en-US" sz="1000" dirty="0"/>
          </a:p>
        </p:txBody>
      </p:sp>
      <p:sp>
        <p:nvSpPr>
          <p:cNvPr id="52" name="Shape 37"/>
          <p:cNvSpPr/>
          <p:nvPr/>
        </p:nvSpPr>
        <p:spPr>
          <a:xfrm>
            <a:off x="714375" y="3971199"/>
            <a:ext cx="7715250" cy="492919"/>
          </a:xfrm>
          <a:prstGeom prst="rect">
            <a:avLst/>
          </a:prstGeom>
          <a:solidFill>
            <a:srgbClr val="D69E2E">
              <a:alpha val="10000"/>
            </a:srgbClr>
          </a:solidFill>
          <a:ln/>
        </p:spPr>
      </p:sp>
      <p:sp>
        <p:nvSpPr>
          <p:cNvPr id="53" name="Shape 38"/>
          <p:cNvSpPr/>
          <p:nvPr/>
        </p:nvSpPr>
        <p:spPr>
          <a:xfrm>
            <a:off x="8386763" y="3971199"/>
            <a:ext cx="42863" cy="492919"/>
          </a:xfrm>
          <a:prstGeom prst="rect">
            <a:avLst/>
          </a:prstGeom>
          <a:solidFill>
            <a:srgbClr val="D69E2E"/>
          </a:solidFill>
          <a:ln/>
        </p:spPr>
      </p:sp>
      <p:pic>
        <p:nvPicPr>
          <p:cNvPr id="54" name="Image 13" descr="preencoded.png">    </p:cNvPr>
          <p:cNvPicPr>
            <a:picLocks noChangeAspect="1"/>
          </p:cNvPicPr>
          <p:nvPr/>
        </p:nvPicPr>
        <p:blipFill>
          <a:blip r:embed="rId14"/>
          <a:stretch>
            <a:fillRect/>
          </a:stretch>
        </p:blipFill>
        <p:spPr>
          <a:xfrm>
            <a:off x="8086725" y="4117646"/>
            <a:ext cx="200025" cy="200025"/>
          </a:xfrm>
          <a:prstGeom prst="rect">
            <a:avLst/>
          </a:prstGeom>
        </p:spPr>
      </p:pic>
      <p:sp>
        <p:nvSpPr>
          <p:cNvPr id="55" name="Text 39"/>
          <p:cNvSpPr/>
          <p:nvPr/>
        </p:nvSpPr>
        <p:spPr>
          <a:xfrm>
            <a:off x="1203722" y="4056924"/>
            <a:ext cx="6797278" cy="321469"/>
          </a:xfrm>
          <a:prstGeom prst="rect">
            <a:avLst/>
          </a:prstGeom>
          <a:noFill/>
          <a:ln/>
        </p:spPr>
        <p:txBody>
          <a:bodyPr wrap="square" lIns="0" tIns="0" rIns="0" bIns="0" rtlCol="0" anchor="t">
            <a:spAutoFit/>
          </a:bodyPr>
          <a:lstStyle/>
          <a:p>
            <a:pPr algn="l" indent="0" marL="0">
              <a:buNone/>
            </a:pPr>
            <a:r>
              <a:rPr lang="en-US" sz="1200" b="1" dirty="0">
                <a:solidFill>
                  <a:srgbClr val="1A202C"/>
                </a:solidFill>
                <a:latin typeface="Cairo ExtraBold" pitchFamily="34" charset="0"/>
                <a:ea typeface="Cairo ExtraBold" pitchFamily="34" charset="-122"/>
                <a:cs typeface="Cairo ExtraBold" pitchFamily="34" charset="-120"/>
              </a:rPr>
              <a:t>طريقة التسعير:</a:t>
            </a:r>
            <a:r>
              <a:rPr lang="en-US" sz="1250" dirty="0">
                <a:solidFill>
                  <a:srgbClr val="2D3748"/>
                </a:solidFill>
                <a:latin typeface="Cairo Light" pitchFamily="34" charset="0"/>
                <a:ea typeface="Cairo Light" pitchFamily="34" charset="-122"/>
                <a:cs typeface="Cairo Light" pitchFamily="34" charset="-120"/>
              </a:rPr>
              <a:t> اربط السعر بنطاق العمل والدعم والتحديثات المستمرة، وليس بعدد أقسام المنيو فقط.</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336270"/>
          </a:xfrm>
          <a:prstGeom prst="rect">
            <a:avLst/>
          </a:prstGeom>
        </p:spPr>
      </p:pic>
      <p:sp>
        <p:nvSpPr>
          <p:cNvPr id="3" name="Text 0"/>
          <p:cNvSpPr/>
          <p:nvPr/>
        </p:nvSpPr>
        <p:spPr>
          <a:xfrm>
            <a:off x="4686300" y="742950"/>
            <a:ext cx="4171950" cy="445759"/>
          </a:xfrm>
          <a:prstGeom prst="rect">
            <a:avLst/>
          </a:prstGeom>
          <a:noFill/>
          <a:ln/>
        </p:spPr>
        <p:txBody>
          <a:bodyPr wrap="none" lIns="0" tIns="0" rIns="0" bIns="0" rtlCol="0" anchor="t">
            <a:spAutoFit/>
          </a:bodyPr>
          <a:lstStyle/>
          <a:p>
            <a:pPr algn="l" indent="0" marL="0">
              <a:lnSpc>
                <a:spcPct val="104000"/>
              </a:lnSpc>
              <a:buNone/>
            </a:pPr>
            <a:r>
              <a:rPr lang="en-US" sz="2450" b="1" dirty="0">
                <a:solidFill>
                  <a:srgbClr val="1A202C"/>
                </a:solidFill>
                <a:latin typeface="Cairo ExtraBold" pitchFamily="34" charset="0"/>
                <a:ea typeface="Cairo ExtraBold" pitchFamily="34" charset="-122"/>
                <a:cs typeface="Cairo ExtraBold" pitchFamily="34" charset="-120"/>
              </a:rPr>
              <a:t>كيف نثبت زيادة المبيعات؟</a:t>
            </a:r>
            <a:endParaRPr lang="en-US" sz="2450" dirty="0"/>
          </a:p>
        </p:txBody>
      </p:sp>
      <p:sp>
        <p:nvSpPr>
          <p:cNvPr id="4" name="Text 1"/>
          <p:cNvSpPr/>
          <p:nvPr/>
        </p:nvSpPr>
        <p:spPr>
          <a:xfrm>
            <a:off x="4686300" y="1403021"/>
            <a:ext cx="4171950" cy="514350"/>
          </a:xfrm>
          <a:prstGeom prst="rect">
            <a:avLst/>
          </a:prstGeom>
          <a:noFill/>
          <a:ln/>
        </p:spPr>
        <p:txBody>
          <a:bodyPr wrap="square" lIns="0" tIns="0" rIns="0" bIns="0" rtlCol="0" anchor="t">
            <a:spAutoFit/>
          </a:bodyPr>
          <a:lstStyle/>
          <a:p>
            <a:pPr algn="l" indent="0" marL="0">
              <a:lnSpc>
                <a:spcPct val="120000"/>
              </a:lnSpc>
              <a:buNone/>
            </a:pPr>
            <a:r>
              <a:rPr lang="en-US" sz="1250" dirty="0">
                <a:solidFill>
                  <a:srgbClr val="2D3748"/>
                </a:solidFill>
                <a:latin typeface="Cairo Light" pitchFamily="34" charset="0"/>
                <a:ea typeface="Cairo Light" pitchFamily="34" charset="-122"/>
                <a:cs typeface="Cairo Light" pitchFamily="34" charset="-120"/>
              </a:rPr>
              <a:t>قبل الإطلاق نسجل خط الأساس من واتساب والمكالمات. بعد الإطلاق نتابع أسبوعياً المؤشرات التالية:</a:t>
            </a:r>
            <a:endParaRPr lang="en-US" sz="1250" dirty="0"/>
          </a:p>
        </p:txBody>
      </p:sp>
      <p:sp>
        <p:nvSpPr>
          <p:cNvPr id="5" name="Shape 2"/>
          <p:cNvSpPr/>
          <p:nvPr/>
        </p:nvSpPr>
        <p:spPr>
          <a:xfrm>
            <a:off x="6843713" y="2131684"/>
            <a:ext cx="2014538" cy="578644"/>
          </a:xfrm>
          <a:prstGeom prst="rect">
            <a:avLst/>
          </a:prstGeom>
          <a:solidFill>
            <a:srgbClr val="1A202C"/>
          </a:solidFill>
          <a:ln/>
        </p:spPr>
      </p:sp>
      <p:sp>
        <p:nvSpPr>
          <p:cNvPr id="6" name="Shape 3"/>
          <p:cNvSpPr/>
          <p:nvPr/>
        </p:nvSpPr>
        <p:spPr>
          <a:xfrm>
            <a:off x="8815388" y="2131684"/>
            <a:ext cx="42863" cy="578644"/>
          </a:xfrm>
          <a:prstGeom prst="rect">
            <a:avLst/>
          </a:prstGeom>
          <a:solidFill>
            <a:srgbClr val="D69E2E"/>
          </a:solidFill>
          <a:ln/>
        </p:spPr>
      </p:sp>
      <p:pic>
        <p:nvPicPr>
          <p:cNvPr id="7" name="Image 1" descr="preencoded.png">    </p:cNvPr>
          <p:cNvPicPr>
            <a:picLocks noChangeAspect="1"/>
          </p:cNvPicPr>
          <p:nvPr/>
        </p:nvPicPr>
        <p:blipFill>
          <a:blip r:embed="rId2"/>
          <a:stretch>
            <a:fillRect/>
          </a:stretch>
        </p:blipFill>
        <p:spPr>
          <a:xfrm>
            <a:off x="8515350" y="2306706"/>
            <a:ext cx="200025" cy="228600"/>
          </a:xfrm>
          <a:prstGeom prst="rect">
            <a:avLst/>
          </a:prstGeom>
        </p:spPr>
      </p:pic>
      <p:sp>
        <p:nvSpPr>
          <p:cNvPr id="8" name="Text 4"/>
          <p:cNvSpPr/>
          <p:nvPr/>
        </p:nvSpPr>
        <p:spPr>
          <a:xfrm>
            <a:off x="7418784" y="2274559"/>
            <a:ext cx="989409" cy="292894"/>
          </a:xfrm>
          <a:prstGeom prst="rect">
            <a:avLst/>
          </a:prstGeom>
          <a:noFill/>
          <a:ln/>
        </p:spPr>
        <p:txBody>
          <a:bodyPr wrap="none" lIns="0" tIns="0" rIns="0" bIns="0" rtlCol="0" anchor="t">
            <a:spAutoFit/>
          </a:bodyPr>
          <a:lstStyle/>
          <a:p>
            <a:pPr algn="l" indent="0" marL="0">
              <a:buNone/>
            </a:pPr>
            <a:r>
              <a:rPr lang="en-US" sz="1100" b="1" dirty="0">
                <a:solidFill>
                  <a:srgbClr val="F7FAFC"/>
                </a:solidFill>
                <a:latin typeface="Cairo ExtraBold" pitchFamily="34" charset="0"/>
                <a:ea typeface="Cairo ExtraBold" pitchFamily="34" charset="-122"/>
                <a:cs typeface="Cairo ExtraBold" pitchFamily="34" charset="-120"/>
              </a:rPr>
              <a:t>نقرات واتساب</a:t>
            </a:r>
            <a:endParaRPr lang="en-US" sz="1100" dirty="0"/>
          </a:p>
        </p:txBody>
      </p:sp>
      <p:sp>
        <p:nvSpPr>
          <p:cNvPr id="9" name="Shape 5"/>
          <p:cNvSpPr/>
          <p:nvPr/>
        </p:nvSpPr>
        <p:spPr>
          <a:xfrm>
            <a:off x="4686300" y="2131684"/>
            <a:ext cx="2014538" cy="578644"/>
          </a:xfrm>
          <a:prstGeom prst="rect">
            <a:avLst/>
          </a:prstGeom>
          <a:solidFill>
            <a:srgbClr val="1A202C"/>
          </a:solidFill>
          <a:ln/>
        </p:spPr>
      </p:sp>
      <p:sp>
        <p:nvSpPr>
          <p:cNvPr id="10" name="Shape 6"/>
          <p:cNvSpPr/>
          <p:nvPr/>
        </p:nvSpPr>
        <p:spPr>
          <a:xfrm>
            <a:off x="6657975" y="2131684"/>
            <a:ext cx="42863" cy="578644"/>
          </a:xfrm>
          <a:prstGeom prst="rect">
            <a:avLst/>
          </a:prstGeom>
          <a:solidFill>
            <a:srgbClr val="D69E2E"/>
          </a:solidFill>
          <a:ln/>
        </p:spPr>
      </p:sp>
      <p:pic>
        <p:nvPicPr>
          <p:cNvPr id="11" name="Image 2" descr="preencoded.png">    </p:cNvPr>
          <p:cNvPicPr>
            <a:picLocks noChangeAspect="1"/>
          </p:cNvPicPr>
          <p:nvPr/>
        </p:nvPicPr>
        <p:blipFill>
          <a:blip r:embed="rId3"/>
          <a:stretch>
            <a:fillRect/>
          </a:stretch>
        </p:blipFill>
        <p:spPr>
          <a:xfrm>
            <a:off x="6329363" y="2306706"/>
            <a:ext cx="228600" cy="228600"/>
          </a:xfrm>
          <a:prstGeom prst="rect">
            <a:avLst/>
          </a:prstGeom>
        </p:spPr>
      </p:pic>
      <p:sp>
        <p:nvSpPr>
          <p:cNvPr id="12" name="Text 7"/>
          <p:cNvSpPr/>
          <p:nvPr/>
        </p:nvSpPr>
        <p:spPr>
          <a:xfrm>
            <a:off x="5254228" y="2274559"/>
            <a:ext cx="967978" cy="292894"/>
          </a:xfrm>
          <a:prstGeom prst="rect">
            <a:avLst/>
          </a:prstGeom>
          <a:noFill/>
          <a:ln/>
        </p:spPr>
        <p:txBody>
          <a:bodyPr wrap="none" lIns="0" tIns="0" rIns="0" bIns="0" rtlCol="0" anchor="t">
            <a:spAutoFit/>
          </a:bodyPr>
          <a:lstStyle/>
          <a:p>
            <a:pPr algn="l" indent="0" marL="0">
              <a:buNone/>
            </a:pPr>
            <a:r>
              <a:rPr lang="en-US" sz="1100" b="1" dirty="0">
                <a:solidFill>
                  <a:srgbClr val="F7FAFC"/>
                </a:solidFill>
                <a:latin typeface="Cairo ExtraBold" pitchFamily="34" charset="0"/>
                <a:ea typeface="Cairo ExtraBold" pitchFamily="34" charset="-122"/>
                <a:cs typeface="Cairo ExtraBold" pitchFamily="34" charset="-120"/>
              </a:rPr>
              <a:t>نقرات الاتصال</a:t>
            </a:r>
            <a:endParaRPr lang="en-US" sz="1100" dirty="0"/>
          </a:p>
        </p:txBody>
      </p:sp>
      <p:sp>
        <p:nvSpPr>
          <p:cNvPr id="13" name="Shape 8"/>
          <p:cNvSpPr/>
          <p:nvPr/>
        </p:nvSpPr>
        <p:spPr>
          <a:xfrm>
            <a:off x="6843713" y="2853203"/>
            <a:ext cx="2014538" cy="871538"/>
          </a:xfrm>
          <a:prstGeom prst="rect">
            <a:avLst/>
          </a:prstGeom>
          <a:solidFill>
            <a:srgbClr val="1A202C"/>
          </a:solidFill>
          <a:ln/>
        </p:spPr>
      </p:sp>
      <p:sp>
        <p:nvSpPr>
          <p:cNvPr id="14" name="Shape 9"/>
          <p:cNvSpPr/>
          <p:nvPr/>
        </p:nvSpPr>
        <p:spPr>
          <a:xfrm>
            <a:off x="8815388" y="2853203"/>
            <a:ext cx="42863" cy="871538"/>
          </a:xfrm>
          <a:prstGeom prst="rect">
            <a:avLst/>
          </a:prstGeom>
          <a:solidFill>
            <a:srgbClr val="D69E2E"/>
          </a:solidFill>
          <a:ln/>
        </p:spPr>
      </p:sp>
      <p:pic>
        <p:nvPicPr>
          <p:cNvPr id="15" name="Image 3" descr="preencoded.png">    </p:cNvPr>
          <p:cNvPicPr>
            <a:picLocks noChangeAspect="1"/>
          </p:cNvPicPr>
          <p:nvPr/>
        </p:nvPicPr>
        <p:blipFill>
          <a:blip r:embed="rId4"/>
          <a:stretch>
            <a:fillRect/>
          </a:stretch>
        </p:blipFill>
        <p:spPr>
          <a:xfrm>
            <a:off x="8458200" y="3174671"/>
            <a:ext cx="257175" cy="228600"/>
          </a:xfrm>
          <a:prstGeom prst="rect">
            <a:avLst/>
          </a:prstGeom>
        </p:spPr>
      </p:pic>
      <p:sp>
        <p:nvSpPr>
          <p:cNvPr id="16" name="Text 10"/>
          <p:cNvSpPr/>
          <p:nvPr/>
        </p:nvSpPr>
        <p:spPr>
          <a:xfrm>
            <a:off x="7015163" y="3142524"/>
            <a:ext cx="1335881" cy="292894"/>
          </a:xfrm>
          <a:prstGeom prst="rect">
            <a:avLst/>
          </a:prstGeom>
          <a:noFill/>
          <a:ln/>
        </p:spPr>
        <p:txBody>
          <a:bodyPr wrap="square" lIns="0" tIns="0" rIns="0" bIns="0" rtlCol="0" anchor="t">
            <a:spAutoFit/>
          </a:bodyPr>
          <a:lstStyle/>
          <a:p>
            <a:pPr algn="l" indent="0" marL="0">
              <a:buNone/>
            </a:pPr>
            <a:r>
              <a:rPr lang="en-US" sz="1100" b="1" dirty="0">
                <a:solidFill>
                  <a:srgbClr val="F7FAFC"/>
                </a:solidFill>
                <a:latin typeface="Cairo ExtraBold" pitchFamily="34" charset="0"/>
                <a:ea typeface="Cairo ExtraBold" pitchFamily="34" charset="-122"/>
                <a:cs typeface="Cairo ExtraBold" pitchFamily="34" charset="-120"/>
              </a:rPr>
              <a:t>طلبات كود الصفحة</a:t>
            </a:r>
            <a:endParaRPr lang="en-US" sz="1100" dirty="0"/>
          </a:p>
        </p:txBody>
      </p:sp>
      <p:sp>
        <p:nvSpPr>
          <p:cNvPr id="17" name="Shape 11"/>
          <p:cNvSpPr/>
          <p:nvPr/>
        </p:nvSpPr>
        <p:spPr>
          <a:xfrm>
            <a:off x="4686300" y="2853203"/>
            <a:ext cx="2014538" cy="871538"/>
          </a:xfrm>
          <a:prstGeom prst="rect">
            <a:avLst/>
          </a:prstGeom>
          <a:solidFill>
            <a:srgbClr val="1A202C"/>
          </a:solidFill>
          <a:ln/>
        </p:spPr>
      </p:sp>
      <p:sp>
        <p:nvSpPr>
          <p:cNvPr id="18" name="Shape 12"/>
          <p:cNvSpPr/>
          <p:nvPr/>
        </p:nvSpPr>
        <p:spPr>
          <a:xfrm>
            <a:off x="6657975" y="2853203"/>
            <a:ext cx="42863" cy="871538"/>
          </a:xfrm>
          <a:prstGeom prst="rect">
            <a:avLst/>
          </a:prstGeom>
          <a:solidFill>
            <a:srgbClr val="D69E2E"/>
          </a:solidFill>
          <a:ln/>
        </p:spPr>
      </p:sp>
      <p:pic>
        <p:nvPicPr>
          <p:cNvPr id="19" name="Image 4" descr="preencoded.png">    </p:cNvPr>
          <p:cNvPicPr>
            <a:picLocks noChangeAspect="1"/>
          </p:cNvPicPr>
          <p:nvPr/>
        </p:nvPicPr>
        <p:blipFill>
          <a:blip r:embed="rId5"/>
          <a:stretch>
            <a:fillRect/>
          </a:stretch>
        </p:blipFill>
        <p:spPr>
          <a:xfrm>
            <a:off x="6300788" y="3174671"/>
            <a:ext cx="257175" cy="228600"/>
          </a:xfrm>
          <a:prstGeom prst="rect">
            <a:avLst/>
          </a:prstGeom>
        </p:spPr>
      </p:pic>
      <p:sp>
        <p:nvSpPr>
          <p:cNvPr id="20" name="Text 13"/>
          <p:cNvSpPr/>
          <p:nvPr/>
        </p:nvSpPr>
        <p:spPr>
          <a:xfrm>
            <a:off x="4829175" y="2996078"/>
            <a:ext cx="1364456" cy="585788"/>
          </a:xfrm>
          <a:prstGeom prst="rect">
            <a:avLst/>
          </a:prstGeom>
          <a:noFill/>
          <a:ln/>
        </p:spPr>
        <p:txBody>
          <a:bodyPr wrap="square" lIns="0" tIns="0" rIns="0" bIns="0" rtlCol="0" anchor="t">
            <a:spAutoFit/>
          </a:bodyPr>
          <a:lstStyle/>
          <a:p>
            <a:pPr algn="l" indent="0" marL="0">
              <a:buNone/>
            </a:pPr>
            <a:r>
              <a:rPr lang="en-US" sz="1100" b="1" dirty="0">
                <a:solidFill>
                  <a:srgbClr val="F7FAFC"/>
                </a:solidFill>
                <a:latin typeface="Cairo ExtraBold" pitchFamily="34" charset="0"/>
                <a:ea typeface="Cairo ExtraBold" pitchFamily="34" charset="-122"/>
                <a:cs typeface="Cairo ExtraBold" pitchFamily="34" charset="-120"/>
              </a:rPr>
              <a:t>متوسط قيمة الطلب</a:t>
            </a:r>
            <a:endParaRPr lang="en-US" sz="1100" dirty="0"/>
          </a:p>
        </p:txBody>
      </p:sp>
      <p:sp>
        <p:nvSpPr>
          <p:cNvPr id="21" name="Shape 14"/>
          <p:cNvSpPr/>
          <p:nvPr/>
        </p:nvSpPr>
        <p:spPr>
          <a:xfrm>
            <a:off x="4686300" y="4010490"/>
            <a:ext cx="4171950" cy="1040030"/>
          </a:xfrm>
          <a:prstGeom prst="rect">
            <a:avLst/>
          </a:prstGeom>
          <a:solidFill>
            <a:srgbClr val="D69E2E">
              <a:alpha val="10000"/>
            </a:srgbClr>
          </a:solidFill>
          <a:ln/>
        </p:spPr>
      </p:sp>
      <p:sp>
        <p:nvSpPr>
          <p:cNvPr id="22" name="Shape 15"/>
          <p:cNvSpPr/>
          <p:nvPr/>
        </p:nvSpPr>
        <p:spPr>
          <a:xfrm>
            <a:off x="8829675" y="4010490"/>
            <a:ext cx="28575" cy="1040030"/>
          </a:xfrm>
          <a:prstGeom prst="rect">
            <a:avLst/>
          </a:prstGeom>
          <a:solidFill>
            <a:srgbClr val="D69E2E"/>
          </a:solidFill>
          <a:ln/>
        </p:spPr>
      </p:sp>
      <p:sp>
        <p:nvSpPr>
          <p:cNvPr id="23" name="Text 16"/>
          <p:cNvSpPr/>
          <p:nvPr/>
        </p:nvSpPr>
        <p:spPr>
          <a:xfrm>
            <a:off x="4686300" y="4010490"/>
            <a:ext cx="4171950" cy="1040030"/>
          </a:xfrm>
          <a:prstGeom prst="rect">
            <a:avLst/>
          </a:prstGeom>
          <a:noFill/>
          <a:ln/>
        </p:spPr>
        <p:txBody>
          <a:bodyPr wrap="square" lIns="170053" tIns="170053" rIns="170053" bIns="170053" rtlCol="0" anchor="t">
            <a:spAutoFit/>
          </a:bodyPr>
          <a:lstStyle/>
          <a:p>
            <a:pPr algn="l" indent="0" marL="0">
              <a:lnSpc>
                <a:spcPct val="128000"/>
              </a:lnSpc>
              <a:buNone/>
            </a:pPr>
            <a:r>
              <a:rPr lang="en-US" sz="1150" dirty="0">
                <a:solidFill>
                  <a:srgbClr val="1A202C"/>
                </a:solidFill>
                <a:latin typeface="Cairo Light" pitchFamily="34" charset="0"/>
                <a:ea typeface="Cairo Light" pitchFamily="34" charset="-122"/>
                <a:cs typeface="Cairo Light" pitchFamily="34" charset="-120"/>
              </a:rPr>
              <a:t>بعد 14–30 يوماً، نقرر: نكرر العرض الفائز، نعدل زر الطلب، أو نغير </a:t>
            </a:r>
            <a:r>
              <a:rPr lang="en-US" sz="1150" dirty="0">
                <a:solidFill>
                  <a:srgbClr val="1A202C"/>
                </a:solidFill>
                <a:latin typeface="Cairo Light" pitchFamily="34" charset="0"/>
                <a:ea typeface="Cairo Light" pitchFamily="34" charset="-122"/>
                <a:cs typeface="Cairo Light" pitchFamily="34" charset="-120"/>
              </a:rPr>
              <a:t>المنتج الظاهر أولاً. </a:t>
            </a:r>
            <a:r>
              <a:rPr lang="en-US" sz="1100" b="1" dirty="0">
                <a:solidFill>
                  <a:srgbClr val="1A202C"/>
                </a:solidFill>
                <a:latin typeface="Cairo ExtraBold" pitchFamily="34" charset="0"/>
                <a:ea typeface="Cairo ExtraBold" pitchFamily="34" charset="-122"/>
                <a:cs typeface="Cairo ExtraBold" pitchFamily="34" charset="-120"/>
              </a:rPr>
              <a:t>بهذه الطريقة يصبح الموقع تجربة قابلة للقياس، لا وعداً عاماً.</a:t>
            </a:r>
            <a:endParaRPr lang="en-US" sz="1150" dirty="0"/>
          </a:p>
        </p:txBody>
      </p:sp>
      <p:sp>
        <p:nvSpPr>
          <p:cNvPr id="24" name="Shape 17"/>
          <p:cNvSpPr/>
          <p:nvPr/>
        </p:nvSpPr>
        <p:spPr>
          <a:xfrm>
            <a:off x="0" y="0"/>
            <a:ext cx="4114800" cy="5336270"/>
          </a:xfrm>
          <a:prstGeom prst="rect">
            <a:avLst/>
          </a:prstGeom>
          <a:solidFill>
            <a:srgbClr val="E2E8F0"/>
          </a:solidFill>
          <a:ln/>
        </p:spPr>
      </p:sp>
      <p:pic>
        <p:nvPicPr>
          <p:cNvPr id="25" name="Image 5" descr="preencoded.png">    </p:cNvPr>
          <p:cNvPicPr>
            <a:picLocks noChangeAspect="1"/>
          </p:cNvPicPr>
          <p:nvPr/>
        </p:nvPicPr>
        <p:blipFill>
          <a:blip r:embed="rId6"/>
          <a:stretch>
            <a:fillRect/>
          </a:stretch>
        </p:blipFill>
        <p:spPr>
          <a:xfrm>
            <a:off x="685800" y="939347"/>
            <a:ext cx="2743200" cy="345757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3943350" y="742950"/>
            <a:ext cx="4629150" cy="891518"/>
          </a:xfrm>
          <a:prstGeom prst="rect">
            <a:avLst/>
          </a:prstGeom>
          <a:noFill/>
          <a:ln/>
        </p:spPr>
        <p:txBody>
          <a:bodyPr wrap="square" lIns="0" tIns="0" rIns="0" bIns="0" rtlCol="0" anchor="t">
            <a:spAutoFit/>
          </a:bodyPr>
          <a:lstStyle/>
          <a:p>
            <a:pPr algn="l" indent="0" marL="0">
              <a:lnSpc>
                <a:spcPct val="104000"/>
              </a:lnSpc>
              <a:buNone/>
            </a:pPr>
            <a:r>
              <a:rPr lang="en-US" sz="2450" b="1" dirty="0">
                <a:solidFill>
                  <a:srgbClr val="1A202C"/>
                </a:solidFill>
                <a:latin typeface="Cairo ExtraBold" pitchFamily="34" charset="0"/>
                <a:ea typeface="Cairo ExtraBold" pitchFamily="34" charset="-122"/>
                <a:cs typeface="Cairo ExtraBold" pitchFamily="34" charset="-120"/>
              </a:rPr>
              <a:t>الخطوة التالية: نموذج أولي ثم إطلاق سريع</a:t>
            </a:r>
            <a:endParaRPr lang="en-US" sz="2450" dirty="0"/>
          </a:p>
        </p:txBody>
      </p:sp>
      <p:sp>
        <p:nvSpPr>
          <p:cNvPr id="4" name="Shape 1"/>
          <p:cNvSpPr/>
          <p:nvPr/>
        </p:nvSpPr>
        <p:spPr>
          <a:xfrm>
            <a:off x="3943350" y="1920218"/>
            <a:ext cx="4629150" cy="657225"/>
          </a:xfrm>
          <a:prstGeom prst="rect">
            <a:avLst/>
          </a:prstGeom>
          <a:solidFill>
            <a:srgbClr val="E2E8F0"/>
          </a:solidFill>
          <a:ln/>
        </p:spPr>
      </p:sp>
      <p:sp>
        <p:nvSpPr>
          <p:cNvPr id="5" name="Shape 2"/>
          <p:cNvSpPr/>
          <p:nvPr/>
        </p:nvSpPr>
        <p:spPr>
          <a:xfrm>
            <a:off x="8543925" y="1920218"/>
            <a:ext cx="28575" cy="657225"/>
          </a:xfrm>
          <a:prstGeom prst="rect">
            <a:avLst/>
          </a:prstGeom>
          <a:solidFill>
            <a:srgbClr val="D69E2E"/>
          </a:solidFill>
          <a:ln/>
        </p:spPr>
      </p:sp>
      <p:sp>
        <p:nvSpPr>
          <p:cNvPr id="6" name="Text 3"/>
          <p:cNvSpPr/>
          <p:nvPr/>
        </p:nvSpPr>
        <p:spPr>
          <a:xfrm>
            <a:off x="8143875" y="1991655"/>
            <a:ext cx="357188" cy="257175"/>
          </a:xfrm>
          <a:prstGeom prst="rect">
            <a:avLst/>
          </a:prstGeom>
          <a:noFill/>
          <a:ln/>
        </p:spPr>
        <p:txBody>
          <a:bodyPr wrap="none" lIns="0" tIns="0" rIns="0" bIns="0" rtlCol="0" anchor="t">
            <a:spAutoFit/>
          </a:bodyPr>
          <a:lstStyle/>
          <a:p>
            <a:pPr algn="l" indent="0" marL="0">
              <a:lnSpc>
                <a:spcPct val="80000"/>
              </a:lnSpc>
              <a:buNone/>
            </a:pPr>
            <a:r>
              <a:rPr lang="en-US" sz="1800" b="1" dirty="0">
                <a:solidFill>
                  <a:srgbClr val="D69E2E"/>
                </a:solidFill>
                <a:latin typeface="Cairo ExtraBold" pitchFamily="34" charset="0"/>
                <a:ea typeface="Cairo ExtraBold" pitchFamily="34" charset="-122"/>
                <a:cs typeface="Cairo ExtraBold" pitchFamily="34" charset="-120"/>
              </a:rPr>
              <a:t>01</a:t>
            </a:r>
            <a:endParaRPr lang="en-US" sz="1800" dirty="0"/>
          </a:p>
        </p:txBody>
      </p:sp>
      <p:sp>
        <p:nvSpPr>
          <p:cNvPr id="7" name="Text 4"/>
          <p:cNvSpPr/>
          <p:nvPr/>
        </p:nvSpPr>
        <p:spPr>
          <a:xfrm>
            <a:off x="4014788" y="1991655"/>
            <a:ext cx="3986213" cy="514350"/>
          </a:xfrm>
          <a:prstGeom prst="rect">
            <a:avLst/>
          </a:prstGeom>
          <a:noFill/>
          <a:ln/>
        </p:spPr>
        <p:txBody>
          <a:bodyPr wrap="square" lIns="0" tIns="0" rIns="0" bIns="0" rtlCol="0" anchor="t">
            <a:spAutoFit/>
          </a:bodyPr>
          <a:lstStyle/>
          <a:p>
            <a:pPr algn="l" indent="0" marL="0">
              <a:lnSpc>
                <a:spcPct val="120000"/>
              </a:lnSpc>
              <a:buNone/>
            </a:pPr>
            <a:r>
              <a:rPr lang="en-US" sz="1250" dirty="0">
                <a:solidFill>
                  <a:srgbClr val="1A202C"/>
                </a:solidFill>
                <a:latin typeface="Cairo Light" pitchFamily="34" charset="0"/>
                <a:ea typeface="Cairo Light" pitchFamily="34" charset="-122"/>
                <a:cs typeface="Cairo Light" pitchFamily="34" charset="-120"/>
              </a:rPr>
              <a:t>نختار مطعماً واحداً من الأولويات الخمس: </a:t>
            </a:r>
            <a:r>
              <a:rPr lang="en-US" sz="1200" b="1" dirty="0">
                <a:solidFill>
                  <a:srgbClr val="1A202C"/>
                </a:solidFill>
                <a:latin typeface="Cairo ExtraBold" pitchFamily="34" charset="0"/>
                <a:ea typeface="Cairo ExtraBold" pitchFamily="34" charset="-122"/>
                <a:cs typeface="Cairo ExtraBold" pitchFamily="34" charset="-120"/>
              </a:rPr>
              <a:t>عرابي، طيبة، مولانا، كاتشب، أو اسكندراني</a:t>
            </a:r>
            <a:r>
              <a:rPr lang="en-US" sz="1250" dirty="0">
                <a:solidFill>
                  <a:srgbClr val="1A202C"/>
                </a:solidFill>
                <a:latin typeface="Cairo Light" pitchFamily="34" charset="0"/>
                <a:ea typeface="Cairo Light" pitchFamily="34" charset="-122"/>
                <a:cs typeface="Cairo Light" pitchFamily="34" charset="-120"/>
              </a:rPr>
              <a:t>.</a:t>
            </a:r>
            <a:endParaRPr lang="en-US" sz="1250" dirty="0"/>
          </a:p>
        </p:txBody>
      </p:sp>
      <p:sp>
        <p:nvSpPr>
          <p:cNvPr id="8" name="Shape 5"/>
          <p:cNvSpPr/>
          <p:nvPr/>
        </p:nvSpPr>
        <p:spPr>
          <a:xfrm>
            <a:off x="3943350" y="2663168"/>
            <a:ext cx="4629150" cy="657225"/>
          </a:xfrm>
          <a:prstGeom prst="rect">
            <a:avLst/>
          </a:prstGeom>
          <a:solidFill>
            <a:srgbClr val="E2E8F0"/>
          </a:solidFill>
          <a:ln/>
        </p:spPr>
      </p:sp>
      <p:sp>
        <p:nvSpPr>
          <p:cNvPr id="9" name="Shape 6"/>
          <p:cNvSpPr/>
          <p:nvPr/>
        </p:nvSpPr>
        <p:spPr>
          <a:xfrm>
            <a:off x="8543925" y="2663168"/>
            <a:ext cx="28575" cy="657225"/>
          </a:xfrm>
          <a:prstGeom prst="rect">
            <a:avLst/>
          </a:prstGeom>
          <a:solidFill>
            <a:srgbClr val="D69E2E"/>
          </a:solidFill>
          <a:ln/>
        </p:spPr>
      </p:sp>
      <p:sp>
        <p:nvSpPr>
          <p:cNvPr id="10" name="Text 7"/>
          <p:cNvSpPr/>
          <p:nvPr/>
        </p:nvSpPr>
        <p:spPr>
          <a:xfrm>
            <a:off x="8143875" y="2734605"/>
            <a:ext cx="357188" cy="257175"/>
          </a:xfrm>
          <a:prstGeom prst="rect">
            <a:avLst/>
          </a:prstGeom>
          <a:noFill/>
          <a:ln/>
        </p:spPr>
        <p:txBody>
          <a:bodyPr wrap="none" lIns="0" tIns="0" rIns="0" bIns="0" rtlCol="0" anchor="t">
            <a:spAutoFit/>
          </a:bodyPr>
          <a:lstStyle/>
          <a:p>
            <a:pPr algn="l" indent="0" marL="0">
              <a:lnSpc>
                <a:spcPct val="80000"/>
              </a:lnSpc>
              <a:buNone/>
            </a:pPr>
            <a:r>
              <a:rPr lang="en-US" sz="1800" b="1" dirty="0">
                <a:solidFill>
                  <a:srgbClr val="D69E2E"/>
                </a:solidFill>
                <a:latin typeface="Cairo ExtraBold" pitchFamily="34" charset="0"/>
                <a:ea typeface="Cairo ExtraBold" pitchFamily="34" charset="-122"/>
                <a:cs typeface="Cairo ExtraBold" pitchFamily="34" charset="-120"/>
              </a:rPr>
              <a:t>02</a:t>
            </a:r>
            <a:endParaRPr lang="en-US" sz="1800" dirty="0"/>
          </a:p>
        </p:txBody>
      </p:sp>
      <p:sp>
        <p:nvSpPr>
          <p:cNvPr id="11" name="Text 8"/>
          <p:cNvSpPr/>
          <p:nvPr/>
        </p:nvSpPr>
        <p:spPr>
          <a:xfrm>
            <a:off x="4014788" y="2734605"/>
            <a:ext cx="3986213" cy="514350"/>
          </a:xfrm>
          <a:prstGeom prst="rect">
            <a:avLst/>
          </a:prstGeom>
          <a:noFill/>
          <a:ln/>
        </p:spPr>
        <p:txBody>
          <a:bodyPr wrap="square" lIns="0" tIns="0" rIns="0" bIns="0" rtlCol="0" anchor="t">
            <a:spAutoFit/>
          </a:bodyPr>
          <a:lstStyle/>
          <a:p>
            <a:pPr algn="l" indent="0" marL="0">
              <a:lnSpc>
                <a:spcPct val="120000"/>
              </a:lnSpc>
              <a:buNone/>
            </a:pPr>
            <a:r>
              <a:rPr lang="en-US" sz="1250" dirty="0">
                <a:solidFill>
                  <a:srgbClr val="1A202C"/>
                </a:solidFill>
                <a:latin typeface="Cairo Light" pitchFamily="34" charset="0"/>
                <a:ea typeface="Cairo Light" pitchFamily="34" charset="-122"/>
                <a:cs typeface="Cairo Light" pitchFamily="34" charset="-120"/>
              </a:rPr>
              <a:t>نجهز نموذجاً عاماً خلال يوم عمل، دون نشر الاسم أو الصور قبل موافقة الإدارة.</a:t>
            </a:r>
            <a:endParaRPr lang="en-US" sz="1250" dirty="0"/>
          </a:p>
        </p:txBody>
      </p:sp>
      <p:sp>
        <p:nvSpPr>
          <p:cNvPr id="12" name="Shape 9"/>
          <p:cNvSpPr/>
          <p:nvPr/>
        </p:nvSpPr>
        <p:spPr>
          <a:xfrm>
            <a:off x="3943350" y="3406118"/>
            <a:ext cx="4629150" cy="400050"/>
          </a:xfrm>
          <a:prstGeom prst="rect">
            <a:avLst/>
          </a:prstGeom>
          <a:solidFill>
            <a:srgbClr val="E2E8F0"/>
          </a:solidFill>
          <a:ln/>
        </p:spPr>
      </p:sp>
      <p:sp>
        <p:nvSpPr>
          <p:cNvPr id="13" name="Shape 10"/>
          <p:cNvSpPr/>
          <p:nvPr/>
        </p:nvSpPr>
        <p:spPr>
          <a:xfrm>
            <a:off x="8543925" y="3406118"/>
            <a:ext cx="28575" cy="400050"/>
          </a:xfrm>
          <a:prstGeom prst="rect">
            <a:avLst/>
          </a:prstGeom>
          <a:solidFill>
            <a:srgbClr val="D69E2E"/>
          </a:solidFill>
          <a:ln/>
        </p:spPr>
      </p:sp>
      <p:sp>
        <p:nvSpPr>
          <p:cNvPr id="14" name="Text 11"/>
          <p:cNvSpPr/>
          <p:nvPr/>
        </p:nvSpPr>
        <p:spPr>
          <a:xfrm>
            <a:off x="8143875" y="3477555"/>
            <a:ext cx="357188" cy="257175"/>
          </a:xfrm>
          <a:prstGeom prst="rect">
            <a:avLst/>
          </a:prstGeom>
          <a:noFill/>
          <a:ln/>
        </p:spPr>
        <p:txBody>
          <a:bodyPr wrap="none" lIns="0" tIns="0" rIns="0" bIns="0" rtlCol="0" anchor="t">
            <a:spAutoFit/>
          </a:bodyPr>
          <a:lstStyle/>
          <a:p>
            <a:pPr algn="l" indent="0" marL="0">
              <a:lnSpc>
                <a:spcPct val="80000"/>
              </a:lnSpc>
              <a:buNone/>
            </a:pPr>
            <a:r>
              <a:rPr lang="en-US" sz="1800" b="1" dirty="0">
                <a:solidFill>
                  <a:srgbClr val="D69E2E"/>
                </a:solidFill>
                <a:latin typeface="Cairo ExtraBold" pitchFamily="34" charset="0"/>
                <a:ea typeface="Cairo ExtraBold" pitchFamily="34" charset="-122"/>
                <a:cs typeface="Cairo ExtraBold" pitchFamily="34" charset="-120"/>
              </a:rPr>
              <a:t>03</a:t>
            </a:r>
            <a:endParaRPr lang="en-US" sz="1800" dirty="0"/>
          </a:p>
        </p:txBody>
      </p:sp>
      <p:sp>
        <p:nvSpPr>
          <p:cNvPr id="15" name="Text 12"/>
          <p:cNvSpPr/>
          <p:nvPr/>
        </p:nvSpPr>
        <p:spPr>
          <a:xfrm>
            <a:off x="4275534" y="3477555"/>
            <a:ext cx="3725466" cy="257175"/>
          </a:xfrm>
          <a:prstGeom prst="rect">
            <a:avLst/>
          </a:prstGeom>
          <a:noFill/>
          <a:ln/>
        </p:spPr>
        <p:txBody>
          <a:bodyPr wrap="none" lIns="0" tIns="0" rIns="0" bIns="0" rtlCol="0" anchor="t">
            <a:spAutoFit/>
          </a:bodyPr>
          <a:lstStyle/>
          <a:p>
            <a:pPr algn="l" indent="0" marL="0">
              <a:lnSpc>
                <a:spcPct val="120000"/>
              </a:lnSpc>
              <a:buNone/>
            </a:pPr>
            <a:r>
              <a:rPr lang="en-US" sz="1250" dirty="0">
                <a:solidFill>
                  <a:srgbClr val="1A202C"/>
                </a:solidFill>
                <a:latin typeface="Cairo Light" pitchFamily="34" charset="0"/>
                <a:ea typeface="Cairo Light" pitchFamily="34" charset="-122"/>
                <a:cs typeface="Cairo Light" pitchFamily="34" charset="-120"/>
              </a:rPr>
              <a:t>نعتمد المنيو والرقم ومناطق التوصيل مع صاحب المطعم.</a:t>
            </a:r>
            <a:endParaRPr lang="en-US" sz="1250" dirty="0"/>
          </a:p>
        </p:txBody>
      </p:sp>
      <p:sp>
        <p:nvSpPr>
          <p:cNvPr id="16" name="Shape 13"/>
          <p:cNvSpPr/>
          <p:nvPr/>
        </p:nvSpPr>
        <p:spPr>
          <a:xfrm>
            <a:off x="3943350" y="3891893"/>
            <a:ext cx="4629150" cy="657225"/>
          </a:xfrm>
          <a:prstGeom prst="rect">
            <a:avLst/>
          </a:prstGeom>
          <a:solidFill>
            <a:srgbClr val="E2E8F0"/>
          </a:solidFill>
          <a:ln/>
        </p:spPr>
      </p:sp>
      <p:sp>
        <p:nvSpPr>
          <p:cNvPr id="17" name="Shape 14"/>
          <p:cNvSpPr/>
          <p:nvPr/>
        </p:nvSpPr>
        <p:spPr>
          <a:xfrm>
            <a:off x="8543925" y="3891893"/>
            <a:ext cx="28575" cy="657225"/>
          </a:xfrm>
          <a:prstGeom prst="rect">
            <a:avLst/>
          </a:prstGeom>
          <a:solidFill>
            <a:srgbClr val="D69E2E"/>
          </a:solidFill>
          <a:ln/>
        </p:spPr>
      </p:sp>
      <p:sp>
        <p:nvSpPr>
          <p:cNvPr id="18" name="Text 15"/>
          <p:cNvSpPr/>
          <p:nvPr/>
        </p:nvSpPr>
        <p:spPr>
          <a:xfrm>
            <a:off x="8143875" y="3963330"/>
            <a:ext cx="357188" cy="257175"/>
          </a:xfrm>
          <a:prstGeom prst="rect">
            <a:avLst/>
          </a:prstGeom>
          <a:noFill/>
          <a:ln/>
        </p:spPr>
        <p:txBody>
          <a:bodyPr wrap="none" lIns="0" tIns="0" rIns="0" bIns="0" rtlCol="0" anchor="t">
            <a:spAutoFit/>
          </a:bodyPr>
          <a:lstStyle/>
          <a:p>
            <a:pPr algn="l" indent="0" marL="0">
              <a:lnSpc>
                <a:spcPct val="80000"/>
              </a:lnSpc>
              <a:buNone/>
            </a:pPr>
            <a:r>
              <a:rPr lang="en-US" sz="1800" b="1" dirty="0">
                <a:solidFill>
                  <a:srgbClr val="D69E2E"/>
                </a:solidFill>
                <a:latin typeface="Cairo ExtraBold" pitchFamily="34" charset="0"/>
                <a:ea typeface="Cairo ExtraBold" pitchFamily="34" charset="-122"/>
                <a:cs typeface="Cairo ExtraBold" pitchFamily="34" charset="-120"/>
              </a:rPr>
              <a:t>04</a:t>
            </a:r>
            <a:endParaRPr lang="en-US" sz="1800" dirty="0"/>
          </a:p>
        </p:txBody>
      </p:sp>
      <p:sp>
        <p:nvSpPr>
          <p:cNvPr id="19" name="Text 16"/>
          <p:cNvSpPr/>
          <p:nvPr/>
        </p:nvSpPr>
        <p:spPr>
          <a:xfrm>
            <a:off x="4014788" y="3963330"/>
            <a:ext cx="3986213" cy="514350"/>
          </a:xfrm>
          <a:prstGeom prst="rect">
            <a:avLst/>
          </a:prstGeom>
          <a:noFill/>
          <a:ln/>
        </p:spPr>
        <p:txBody>
          <a:bodyPr wrap="square" lIns="0" tIns="0" rIns="0" bIns="0" rtlCol="0" anchor="t">
            <a:spAutoFit/>
          </a:bodyPr>
          <a:lstStyle/>
          <a:p>
            <a:pPr algn="l" indent="0" marL="0">
              <a:lnSpc>
                <a:spcPct val="120000"/>
              </a:lnSpc>
              <a:buNone/>
            </a:pPr>
            <a:r>
              <a:rPr lang="en-US" sz="1250" dirty="0">
                <a:solidFill>
                  <a:srgbClr val="1A202C"/>
                </a:solidFill>
                <a:latin typeface="Cairo Light" pitchFamily="34" charset="0"/>
                <a:ea typeface="Cairo Light" pitchFamily="34" charset="-122"/>
                <a:cs typeface="Cairo Light" pitchFamily="34" charset="-120"/>
              </a:rPr>
              <a:t>نطلق الصفحة، نربطها بخرائط جوجل وفيسبوك، ونبدأ اختبار كود خصم واحد.</a:t>
            </a:r>
            <a:endParaRPr lang="en-US" sz="1250" dirty="0"/>
          </a:p>
        </p:txBody>
      </p:sp>
      <p:sp>
        <p:nvSpPr>
          <p:cNvPr id="20" name="Shape 17"/>
          <p:cNvSpPr/>
          <p:nvPr/>
        </p:nvSpPr>
        <p:spPr>
          <a:xfrm>
            <a:off x="0" y="0"/>
            <a:ext cx="3657600" cy="5143500"/>
          </a:xfrm>
          <a:prstGeom prst="rect">
            <a:avLst/>
          </a:prstGeom>
          <a:solidFill>
            <a:srgbClr val="1A202C"/>
          </a:solidFill>
          <a:ln/>
        </p:spPr>
      </p:sp>
      <p:sp>
        <p:nvSpPr>
          <p:cNvPr id="21" name="Shape 18"/>
          <p:cNvSpPr/>
          <p:nvPr/>
        </p:nvSpPr>
        <p:spPr>
          <a:xfrm>
            <a:off x="3600450" y="0"/>
            <a:ext cx="57150" cy="5143500"/>
          </a:xfrm>
          <a:prstGeom prst="rect">
            <a:avLst/>
          </a:prstGeom>
          <a:solidFill>
            <a:srgbClr val="D69E2E"/>
          </a:solidFill>
          <a:ln/>
        </p:spPr>
      </p:sp>
      <p:pic>
        <p:nvPicPr>
          <p:cNvPr id="22" name="Image 1" descr="preencoded.png">    </p:cNvPr>
          <p:cNvPicPr>
            <a:picLocks noChangeAspect="1"/>
          </p:cNvPicPr>
          <p:nvPr/>
        </p:nvPicPr>
        <p:blipFill>
          <a:blip r:embed="rId2"/>
          <a:stretch>
            <a:fillRect/>
          </a:stretch>
        </p:blipFill>
        <p:spPr>
          <a:xfrm>
            <a:off x="1543050" y="1541655"/>
            <a:ext cx="571500" cy="571500"/>
          </a:xfrm>
          <a:prstGeom prst="rect">
            <a:avLst/>
          </a:prstGeom>
        </p:spPr>
      </p:pic>
      <p:sp>
        <p:nvSpPr>
          <p:cNvPr id="23" name="Text 19"/>
          <p:cNvSpPr/>
          <p:nvPr/>
        </p:nvSpPr>
        <p:spPr>
          <a:xfrm>
            <a:off x="428625" y="2256030"/>
            <a:ext cx="2800350" cy="1260091"/>
          </a:xfrm>
          <a:prstGeom prst="rect">
            <a:avLst/>
          </a:prstGeom>
          <a:noFill/>
          <a:ln/>
        </p:spPr>
        <p:txBody>
          <a:bodyPr wrap="square" lIns="0" tIns="0" rIns="0" bIns="0" rtlCol="0" anchor="t">
            <a:spAutoFit/>
          </a:bodyPr>
          <a:lstStyle/>
          <a:p>
            <a:pPr algn="ctr" indent="0" marL="0">
              <a:lnSpc>
                <a:spcPct val="112000"/>
              </a:lnSpc>
              <a:buNone/>
            </a:pPr>
            <a:r>
              <a:rPr lang="en-US" sz="2100" b="1" dirty="0">
                <a:solidFill>
                  <a:srgbClr val="F7FAFC"/>
                </a:solidFill>
                <a:latin typeface="Cairo ExtraBold" pitchFamily="34" charset="0"/>
                <a:ea typeface="Cairo ExtraBold" pitchFamily="34" charset="-122"/>
                <a:cs typeface="Cairo ExtraBold" pitchFamily="34" charset="-120"/>
              </a:rPr>
              <a:t>هل نبدأ بتصميم نموذج أولي لمطعمكم؟</a:t>
            </a:r>
            <a:endParaRPr lang="en-US" sz="2100" dirty="0"/>
          </a:p>
        </p:txBody>
      </p:sp>
      <p:sp>
        <p:nvSpPr>
          <p:cNvPr id="24" name="Text 20"/>
          <p:cNvSpPr/>
          <p:nvPr/>
        </p:nvSpPr>
        <p:spPr>
          <a:xfrm>
            <a:off x="428625" y="3658995"/>
            <a:ext cx="2800350" cy="514350"/>
          </a:xfrm>
          <a:prstGeom prst="rect">
            <a:avLst/>
          </a:prstGeom>
          <a:noFill/>
          <a:ln/>
        </p:spPr>
        <p:txBody>
          <a:bodyPr wrap="square" lIns="0" tIns="0" rIns="0" bIns="0" rtlCol="0" anchor="t">
            <a:spAutoFit/>
          </a:bodyPr>
          <a:lstStyle/>
          <a:p>
            <a:pPr algn="ctr" indent="0" marL="0">
              <a:lnSpc>
                <a:spcPct val="120000"/>
              </a:lnSpc>
              <a:buNone/>
            </a:pPr>
            <a:r>
              <a:rPr lang="en-US" sz="1250" dirty="0">
                <a:solidFill>
                  <a:srgbClr val="E2E8F0"/>
                </a:solidFill>
                <a:latin typeface="Cairo Light" pitchFamily="34" charset="0"/>
                <a:ea typeface="Cairo Light" pitchFamily="34" charset="-122"/>
                <a:cs typeface="Cairo Light" pitchFamily="34" charset="-120"/>
              </a:rPr>
              <a:t>دعوة للإجراء تركز على إثبات القيمة قبل الالتزام الكامل.</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686300" y="742950"/>
            <a:ext cx="4171950" cy="445759"/>
          </a:xfrm>
          <a:prstGeom prst="rect">
            <a:avLst/>
          </a:prstGeom>
          <a:noFill/>
          <a:ln/>
        </p:spPr>
        <p:txBody>
          <a:bodyPr wrap="none" lIns="0" tIns="0" rIns="0" bIns="0" rtlCol="0" anchor="t">
            <a:spAutoFit/>
          </a:bodyPr>
          <a:lstStyle/>
          <a:p>
            <a:pPr algn="l" indent="0" marL="0">
              <a:lnSpc>
                <a:spcPct val="104000"/>
              </a:lnSpc>
              <a:buNone/>
            </a:pPr>
            <a:r>
              <a:rPr lang="en-US" sz="2450" b="1" dirty="0">
                <a:solidFill>
                  <a:srgbClr val="1A202C"/>
                </a:solidFill>
                <a:latin typeface="Cairo ExtraBold" pitchFamily="34" charset="0"/>
                <a:ea typeface="Cairo ExtraBold" pitchFamily="34" charset="-122"/>
                <a:cs typeface="Cairo ExtraBold" pitchFamily="34" charset="-120"/>
              </a:rPr>
              <a:t>ملاحظات ومصادر البيانات</a:t>
            </a:r>
            <a:endParaRPr lang="en-US" sz="2450" dirty="0"/>
          </a:p>
        </p:txBody>
      </p:sp>
      <p:pic>
        <p:nvPicPr>
          <p:cNvPr id="4" name="Image 1" descr="preencoded.png">    </p:cNvPr>
          <p:cNvPicPr>
            <a:picLocks noChangeAspect="1"/>
          </p:cNvPicPr>
          <p:nvPr/>
        </p:nvPicPr>
        <p:blipFill>
          <a:blip r:embed="rId2"/>
          <a:stretch>
            <a:fillRect/>
          </a:stretch>
        </p:blipFill>
        <p:spPr>
          <a:xfrm>
            <a:off x="8729663" y="1513749"/>
            <a:ext cx="128588" cy="171450"/>
          </a:xfrm>
          <a:prstGeom prst="rect">
            <a:avLst/>
          </a:prstGeom>
        </p:spPr>
      </p:pic>
      <p:sp>
        <p:nvSpPr>
          <p:cNvPr id="5" name="Text 1"/>
          <p:cNvSpPr/>
          <p:nvPr/>
        </p:nvSpPr>
        <p:spPr>
          <a:xfrm>
            <a:off x="4686300" y="1403021"/>
            <a:ext cx="3929063" cy="479971"/>
          </a:xfrm>
          <a:prstGeom prst="rect">
            <a:avLst/>
          </a:prstGeom>
          <a:noFill/>
          <a:ln/>
        </p:spPr>
        <p:txBody>
          <a:bodyPr wrap="square" lIns="0" tIns="0" rIns="0" bIns="0" rtlCol="0" anchor="t">
            <a:spAutoFit/>
          </a:bodyPr>
          <a:lstStyle/>
          <a:p>
            <a:pPr algn="r" indent="0" marL="0">
              <a:lnSpc>
                <a:spcPct val="112000"/>
              </a:lnSpc>
              <a:buNone/>
            </a:pPr>
            <a:r>
              <a:rPr lang="en-US" sz="1250" dirty="0">
                <a:solidFill>
                  <a:srgbClr val="2D3748"/>
                </a:solidFill>
                <a:latin typeface="Cairo Light" pitchFamily="34" charset="0"/>
                <a:ea typeface="Cairo Light" pitchFamily="34" charset="-122"/>
                <a:cs typeface="Cairo Light" pitchFamily="34" charset="-120"/>
              </a:rPr>
              <a:t>التقييمات المعروضة مأخوذة من صفحات </a:t>
            </a:r>
            <a:r>
              <a:rPr lang="en-US" sz="1200" b="1" dirty="0">
                <a:solidFill>
                  <a:srgbClr val="1A202C"/>
                </a:solidFill>
                <a:latin typeface="Cairo ExtraBold" pitchFamily="34" charset="0"/>
                <a:ea typeface="Cairo ExtraBold" pitchFamily="34" charset="-122"/>
                <a:cs typeface="Cairo ExtraBold" pitchFamily="34" charset="-120"/>
              </a:rPr>
              <a:t>خرائط جوجل</a:t>
            </a:r>
            <a:r>
              <a:rPr lang="en-US" sz="1250" dirty="0">
                <a:solidFill>
                  <a:srgbClr val="2D3748"/>
                </a:solidFill>
                <a:latin typeface="Cairo Light" pitchFamily="34" charset="0"/>
                <a:ea typeface="Cairo Light" pitchFamily="34" charset="-122"/>
                <a:cs typeface="Cairo Light" pitchFamily="34" charset="-120"/>
              </a:rPr>
              <a:t> التي </a:t>
            </a:r>
            <a:r>
              <a:rPr lang="en-US" sz="1250" dirty="0">
                <a:solidFill>
                  <a:srgbClr val="2D3748"/>
                </a:solidFill>
                <a:latin typeface="Cairo Light" pitchFamily="34" charset="0"/>
                <a:ea typeface="Cairo Light" pitchFamily="34" charset="-122"/>
                <a:cs typeface="Cairo Light" pitchFamily="34" charset="-120"/>
              </a:rPr>
              <a:t>أمكن مطابقة اسم المطعم وموقعه فيها.</a:t>
            </a:r>
            <a:endParaRPr lang="en-US" sz="1250" dirty="0"/>
          </a:p>
        </p:txBody>
      </p:sp>
      <p:pic>
        <p:nvPicPr>
          <p:cNvPr id="6" name="Image 2" descr="preencoded.png">    </p:cNvPr>
          <p:cNvPicPr>
            <a:picLocks noChangeAspect="1"/>
          </p:cNvPicPr>
          <p:nvPr/>
        </p:nvPicPr>
        <p:blipFill>
          <a:blip r:embed="rId3"/>
          <a:stretch>
            <a:fillRect/>
          </a:stretch>
        </p:blipFill>
        <p:spPr>
          <a:xfrm>
            <a:off x="8686800" y="2108020"/>
            <a:ext cx="171450" cy="171450"/>
          </a:xfrm>
          <a:prstGeom prst="rect">
            <a:avLst/>
          </a:prstGeom>
        </p:spPr>
      </p:pic>
      <p:sp>
        <p:nvSpPr>
          <p:cNvPr id="7" name="Text 2"/>
          <p:cNvSpPr/>
          <p:nvPr/>
        </p:nvSpPr>
        <p:spPr>
          <a:xfrm>
            <a:off x="4686300" y="1997292"/>
            <a:ext cx="3886200" cy="479971"/>
          </a:xfrm>
          <a:prstGeom prst="rect">
            <a:avLst/>
          </a:prstGeom>
          <a:noFill/>
          <a:ln/>
        </p:spPr>
        <p:txBody>
          <a:bodyPr wrap="square" lIns="0" tIns="0" rIns="0" bIns="0" rtlCol="0" anchor="t">
            <a:spAutoFit/>
          </a:bodyPr>
          <a:lstStyle/>
          <a:p>
            <a:pPr algn="r" indent="0" marL="0">
              <a:lnSpc>
                <a:spcPct val="112000"/>
              </a:lnSpc>
              <a:buNone/>
            </a:pPr>
            <a:r>
              <a:rPr lang="en-US" sz="1250" dirty="0">
                <a:solidFill>
                  <a:srgbClr val="2D3748"/>
                </a:solidFill>
                <a:latin typeface="Cairo Light" pitchFamily="34" charset="0"/>
                <a:ea typeface="Cairo Light" pitchFamily="34" charset="-122"/>
                <a:cs typeface="Cairo Light" pitchFamily="34" charset="-120"/>
              </a:rPr>
              <a:t>صفحات </a:t>
            </a:r>
            <a:r>
              <a:rPr lang="en-US" sz="1200" b="1" dirty="0">
                <a:solidFill>
                  <a:srgbClr val="1A202C"/>
                </a:solidFill>
                <a:latin typeface="Cairo ExtraBold" pitchFamily="34" charset="0"/>
                <a:ea typeface="Cairo ExtraBold" pitchFamily="34" charset="-122"/>
                <a:cs typeface="Cairo ExtraBold" pitchFamily="34" charset="-120"/>
              </a:rPr>
              <a:t>فيسبوك</a:t>
            </a:r>
            <a:r>
              <a:rPr lang="en-US" sz="1250" dirty="0">
                <a:solidFill>
                  <a:srgbClr val="2D3748"/>
                </a:solidFill>
                <a:latin typeface="Cairo Light" pitchFamily="34" charset="0"/>
                <a:ea typeface="Cairo Light" pitchFamily="34" charset="-122"/>
                <a:cs typeface="Cairo Light" pitchFamily="34" charset="-120"/>
              </a:rPr>
              <a:t> استخدمت لتأكيد بعض الأسماء </a:t>
            </a:r>
            <a:r>
              <a:rPr lang="en-US" sz="1250" dirty="0">
                <a:solidFill>
                  <a:srgbClr val="2D3748"/>
                </a:solidFill>
                <a:latin typeface="Cairo Light" pitchFamily="34" charset="0"/>
                <a:ea typeface="Cairo Light" pitchFamily="34" charset="-122"/>
                <a:cs typeface="Cairo Light" pitchFamily="34" charset="-120"/>
              </a:rPr>
              <a:t>والأرقام، وليست بديلاً عن موقع مستقل.</a:t>
            </a:r>
            <a:endParaRPr lang="en-US" sz="1250" dirty="0"/>
          </a:p>
        </p:txBody>
      </p:sp>
      <p:pic>
        <p:nvPicPr>
          <p:cNvPr id="8" name="Image 3" descr="preencoded.png">    </p:cNvPr>
          <p:cNvPicPr>
            <a:picLocks noChangeAspect="1"/>
          </p:cNvPicPr>
          <p:nvPr/>
        </p:nvPicPr>
        <p:blipFill>
          <a:blip r:embed="rId4"/>
          <a:stretch>
            <a:fillRect/>
          </a:stretch>
        </p:blipFill>
        <p:spPr>
          <a:xfrm>
            <a:off x="8686800" y="2702291"/>
            <a:ext cx="171450" cy="171450"/>
          </a:xfrm>
          <a:prstGeom prst="rect">
            <a:avLst/>
          </a:prstGeom>
        </p:spPr>
      </p:pic>
      <p:sp>
        <p:nvSpPr>
          <p:cNvPr id="9" name="Text 3"/>
          <p:cNvSpPr/>
          <p:nvPr/>
        </p:nvSpPr>
        <p:spPr>
          <a:xfrm>
            <a:off x="4686300" y="2591563"/>
            <a:ext cx="3886200" cy="719956"/>
          </a:xfrm>
          <a:prstGeom prst="rect">
            <a:avLst/>
          </a:prstGeom>
          <a:noFill/>
          <a:ln/>
        </p:spPr>
        <p:txBody>
          <a:bodyPr wrap="square" lIns="0" tIns="0" rIns="0" bIns="0" rtlCol="0" anchor="t">
            <a:spAutoFit/>
          </a:bodyPr>
          <a:lstStyle/>
          <a:p>
            <a:pPr algn="r" indent="0" marL="0">
              <a:lnSpc>
                <a:spcPct val="112000"/>
              </a:lnSpc>
              <a:buNone/>
            </a:pPr>
            <a:r>
              <a:rPr lang="en-US" sz="1250" dirty="0">
                <a:solidFill>
                  <a:srgbClr val="2D3748"/>
                </a:solidFill>
                <a:latin typeface="Cairo Light" pitchFamily="34" charset="0"/>
                <a:ea typeface="Cairo Light" pitchFamily="34" charset="-122"/>
                <a:cs typeface="Cairo Light" pitchFamily="34" charset="-120"/>
              </a:rPr>
              <a:t>أثناء المراجعة ظهر أن </a:t>
            </a:r>
            <a:r>
              <a:rPr lang="en-US" sz="1200" b="1" dirty="0">
                <a:solidFill>
                  <a:srgbClr val="1A202C"/>
                </a:solidFill>
                <a:latin typeface="Cairo ExtraBold" pitchFamily="34" charset="0"/>
                <a:ea typeface="Cairo ExtraBold" pitchFamily="34" charset="-122"/>
                <a:cs typeface="Cairo ExtraBold" pitchFamily="34" charset="-120"/>
              </a:rPr>
              <a:t>كبابجي الشيخ</a:t>
            </a:r>
            <a:r>
              <a:rPr lang="en-US" sz="1250" dirty="0">
                <a:solidFill>
                  <a:srgbClr val="2D3748"/>
                </a:solidFill>
                <a:latin typeface="Cairo Light" pitchFamily="34" charset="0"/>
                <a:ea typeface="Cairo Light" pitchFamily="34" charset="-122"/>
                <a:cs typeface="Cairo Light" pitchFamily="34" charset="-120"/>
              </a:rPr>
              <a:t> لديه موقع رسمي، </a:t>
            </a:r>
            <a:r>
              <a:rPr lang="en-US" sz="1250" dirty="0">
                <a:solidFill>
                  <a:srgbClr val="2D3748"/>
                </a:solidFill>
                <a:latin typeface="Cairo Light" pitchFamily="34" charset="0"/>
                <a:ea typeface="Cairo Light" pitchFamily="34" charset="-122"/>
                <a:cs typeface="Cairo Light" pitchFamily="34" charset="-120"/>
              </a:rPr>
              <a:t>وأن </a:t>
            </a:r>
            <a:r>
              <a:rPr lang="en-US" sz="1200" b="1" dirty="0">
                <a:solidFill>
                  <a:srgbClr val="1A202C"/>
                </a:solidFill>
                <a:latin typeface="Cairo ExtraBold" pitchFamily="34" charset="0"/>
                <a:ea typeface="Cairo ExtraBold" pitchFamily="34" charset="-122"/>
                <a:cs typeface="Cairo ExtraBold" pitchFamily="34" charset="-120"/>
              </a:rPr>
              <a:t>مولو بروست</a:t>
            </a:r>
            <a:r>
              <a:rPr lang="en-US" sz="1250" dirty="0">
                <a:solidFill>
                  <a:srgbClr val="2D3748"/>
                </a:solidFill>
                <a:latin typeface="Cairo Light" pitchFamily="34" charset="0"/>
                <a:ea typeface="Cairo Light" pitchFamily="34" charset="-122"/>
                <a:cs typeface="Cairo Light" pitchFamily="34" charset="-120"/>
              </a:rPr>
              <a:t> لديه صفحة طلب مستقلة؛ لذلك لا </a:t>
            </a:r>
            <a:r>
              <a:rPr lang="en-US" sz="1250" dirty="0">
                <a:solidFill>
                  <a:srgbClr val="2D3748"/>
                </a:solidFill>
                <a:latin typeface="Cairo Light" pitchFamily="34" charset="0"/>
                <a:ea typeface="Cairo Light" pitchFamily="34" charset="-122"/>
                <a:cs typeface="Cairo Light" pitchFamily="34" charset="-120"/>
              </a:rPr>
              <a:t>يُقدمان كفرص «بلا حضور ويب» خالصة.</a:t>
            </a:r>
            <a:endParaRPr lang="en-US" sz="1250" dirty="0"/>
          </a:p>
        </p:txBody>
      </p:sp>
      <p:pic>
        <p:nvPicPr>
          <p:cNvPr id="10" name="Image 4" descr="preencoded.png">    </p:cNvPr>
          <p:cNvPicPr>
            <a:picLocks noChangeAspect="1"/>
          </p:cNvPicPr>
          <p:nvPr/>
        </p:nvPicPr>
        <p:blipFill>
          <a:blip r:embed="rId5"/>
          <a:stretch>
            <a:fillRect/>
          </a:stretch>
        </p:blipFill>
        <p:spPr>
          <a:xfrm>
            <a:off x="8686800" y="3536547"/>
            <a:ext cx="171450" cy="171450"/>
          </a:xfrm>
          <a:prstGeom prst="rect">
            <a:avLst/>
          </a:prstGeom>
        </p:spPr>
      </p:pic>
      <p:sp>
        <p:nvSpPr>
          <p:cNvPr id="11" name="Text 4"/>
          <p:cNvSpPr/>
          <p:nvPr/>
        </p:nvSpPr>
        <p:spPr>
          <a:xfrm>
            <a:off x="4686300" y="3425819"/>
            <a:ext cx="3886200" cy="479971"/>
          </a:xfrm>
          <a:prstGeom prst="rect">
            <a:avLst/>
          </a:prstGeom>
          <a:noFill/>
          <a:ln/>
        </p:spPr>
        <p:txBody>
          <a:bodyPr wrap="square" lIns="0" tIns="0" rIns="0" bIns="0" rtlCol="0" anchor="t">
            <a:spAutoFit/>
          </a:bodyPr>
          <a:lstStyle/>
          <a:p>
            <a:pPr algn="r" indent="0" marL="0">
              <a:lnSpc>
                <a:spcPct val="112000"/>
              </a:lnSpc>
              <a:buNone/>
            </a:pPr>
            <a:r>
              <a:rPr lang="en-US" sz="1250" dirty="0">
                <a:solidFill>
                  <a:srgbClr val="2D3748"/>
                </a:solidFill>
                <a:latin typeface="Cairo Light" pitchFamily="34" charset="0"/>
                <a:ea typeface="Cairo Light" pitchFamily="34" charset="-122"/>
                <a:cs typeface="Cairo Light" pitchFamily="34" charset="-120"/>
              </a:rPr>
              <a:t>يجب </a:t>
            </a:r>
            <a:r>
              <a:rPr lang="en-US" sz="1200" b="1" dirty="0">
                <a:solidFill>
                  <a:srgbClr val="1A202C"/>
                </a:solidFill>
                <a:latin typeface="Cairo ExtraBold" pitchFamily="34" charset="0"/>
                <a:ea typeface="Cairo ExtraBold" pitchFamily="34" charset="-122"/>
                <a:cs typeface="Cairo ExtraBold" pitchFamily="34" charset="-120"/>
              </a:rPr>
              <a:t>تأكيد رقم التواصل وحالة الموقع</a:t>
            </a:r>
            <a:r>
              <a:rPr lang="en-US" sz="1250" dirty="0">
                <a:solidFill>
                  <a:srgbClr val="2D3748"/>
                </a:solidFill>
                <a:latin typeface="Cairo Light" pitchFamily="34" charset="0"/>
                <a:ea typeface="Cairo Light" pitchFamily="34" charset="-122"/>
                <a:cs typeface="Cairo Light" pitchFamily="34" charset="-120"/>
              </a:rPr>
              <a:t> مع الإدارة قبل </a:t>
            </a:r>
            <a:r>
              <a:rPr lang="en-US" sz="1250" dirty="0">
                <a:solidFill>
                  <a:srgbClr val="2D3748"/>
                </a:solidFill>
                <a:latin typeface="Cairo Light" pitchFamily="34" charset="0"/>
                <a:ea typeface="Cairo Light" pitchFamily="34" charset="-122"/>
                <a:cs typeface="Cairo Light" pitchFamily="34" charset="-120"/>
              </a:rPr>
              <a:t>إرسال العرض التجاري.</a:t>
            </a:r>
            <a:endParaRPr lang="en-US" sz="1250" dirty="0"/>
          </a:p>
        </p:txBody>
      </p:sp>
      <p:sp>
        <p:nvSpPr>
          <p:cNvPr id="12" name="Shape 5"/>
          <p:cNvSpPr/>
          <p:nvPr/>
        </p:nvSpPr>
        <p:spPr>
          <a:xfrm>
            <a:off x="0" y="0"/>
            <a:ext cx="4114800" cy="5143500"/>
          </a:xfrm>
          <a:prstGeom prst="rect">
            <a:avLst/>
          </a:prstGeom>
          <a:solidFill>
            <a:srgbClr val="E2E8F0"/>
          </a:solidFill>
          <a:ln/>
        </p:spPr>
      </p:sp>
      <p:sp>
        <p:nvSpPr>
          <p:cNvPr id="13" name="Shape 6"/>
          <p:cNvSpPr/>
          <p:nvPr/>
        </p:nvSpPr>
        <p:spPr>
          <a:xfrm>
            <a:off x="450056" y="1321594"/>
            <a:ext cx="3214688" cy="2500313"/>
          </a:xfrm>
          <a:prstGeom prst="rect">
            <a:avLst/>
          </a:prstGeom>
          <a:solidFill>
            <a:srgbClr val="FFFFFF"/>
          </a:solidFill>
          <a:ln w="54864">
            <a:solidFill>
              <a:srgbClr val="D69E2E"/>
            </a:solidFill>
            <a:prstDash val="solid"/>
          </a:ln>
        </p:spPr>
      </p:sp>
      <p:pic>
        <p:nvPicPr>
          <p:cNvPr id="14" name="Image 5" descr="preencoded.png">    </p:cNvPr>
          <p:cNvPicPr>
            <a:picLocks noChangeAspect="1"/>
          </p:cNvPicPr>
          <p:nvPr/>
        </p:nvPicPr>
        <p:blipFill>
          <a:blip r:embed="rId6"/>
          <a:stretch>
            <a:fillRect/>
          </a:stretch>
        </p:blipFill>
        <p:spPr>
          <a:xfrm>
            <a:off x="450056" y="1321594"/>
            <a:ext cx="3214688" cy="250031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2026-08-13T14:41:06Z</dcterms:created>
  <dcterms:modified xsi:type="dcterms:W3CDTF">2026-08-13T14:41:06Z</dcterms:modified>
</cp:coreProperties>
</file>